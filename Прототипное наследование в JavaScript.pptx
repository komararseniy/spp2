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92000" cy="6858000"/>
  <p:notesSz cx="6858000" cy="12192000"/>
  <p:embeddedFontLst>
    <p:embeddedFont>
      <p:font typeface="IBM Plex Sans" panose="020B0503050203000203" pitchFamily="34" charset="0"/>
      <p:regular r:id="rId17"/>
      <p:bold r:id="rId18"/>
    </p:embeddedFont>
    <p:embeddedFont>
      <p:font typeface="JetBrains Mono" panose="020B060402020202020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032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Добрый день! Тема моего доклада - прототипное наследование в JavaScript. Мы разберём, что такое прототип и прототипная цепочка, чем отличаются __proto__ и prototype, как наследование делали раньше и как оно устроено сейчас с классами. Главная идея доклада: классы в JavaScript - это не отдельная система, а удобная обёртка над прототипами. (≈ 0:20)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вопроса: зачем вообще нужны прототипы? Представьте, что у нас много собак. Слева каждая собака - отдельный объект, и у каждой есть свой метод bark. Это две разные функции с одинаковым телом: сравнение dog1.bark и dog2.bark даёт false. Если собак тысяча, то и функций тысяча копий. Справа мы вынесли общий метод в отдельный объект dogMethods и создали собак через Object.create, передав этот объект как родителя. Теперь у каждой собаки есть только своё имя, а метод bark хранится один раз, и сравнение даёт true. Этот общий объект-родитель и называется прототипом. (≈ 0:50)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разберём по шагам, что происходит. Мы создаём объект animal. В нём два собственных свойства: eats со значением true и метод walk. Метод walk возвращает имя плюс слово «идёт», то есть берёт this.name. Затем создаём объект rabbit с двумя своими свойствами: name со значением «Зайка» и jumps. Кроме собственных свойств, у каждого объекта есть скрытая ссылка, которая в спецификации называется двойные квадратные скобки Prototype. Пока мы ничего не настраивали, у обоих объектов она ведёт на Object.prototype - общий базовый объект JavaScript. Значит, animal и rabbit сейчас между собой никак не связаны. (≈ 0:50)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свяжем объекты: вызываем Object.setPrototypeOf и говорим, что прототип rabbit - это animal. Что изменилось? Скрытая ссылка rabbit теперь указывает не на Object.prototype, а на animal. Как это увидеть в коде. Во-первых, rabbit.__proto__ равно animal - так мы читаем эту ссылку. То же самое делает Object.getPrototypeOf, он считается правильным способом. Во-вторых, Object.keys показывает только собственные свойства: name и jumps, а eats в списке нет, потому что он принадлежит animal. Но rabbit.eats всё равно возвращает true: движок нашёл его у прототипа. Object.hasOwn честно отвечает false - у самого rabbit такого свойства нет, а оператор in возвращает true, потому что он ищет и по цепочке. (≈ 1:00)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JavaScript ищет метод в вызове rabbit.walk()? Шаг первый: смотрит в самом rabbit. Там только name и jumps, метода walk нет. Шаг второй: идёт по скрытой ссылке в animal. Там walk есть, движок его берёт. Шаг третий: вызывает метод, и this внутри него равен rabbit, то есть объекту слева от точки. Поэтому метод возвращает «Зайка идёт», хотя лежит в animal. Это важно: метод общий, а данные берутся из того объекта, у которого его вызвали. Если же вызвать animal.walk(), this будет animal, у него нет имени, и получится «undefined идёт». Метод toString мы не писали, но rabbit.toString() работает: движок прошёл rabbit, animal и нашёл метод в Object.prototype. А rabbit.fly нигде нет: поиск дошёл до конца цепочки, до null, и вернул undefined. (≈ 1:00)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Важное правило: читаем мы по цепочке, а записываем всегда в сам объект. Присваиваем rabbit.eats равно false. Движок не лезет в animal, а создаёт новое свойство прямо у rabbit. Теперь rabbit.eats - это false, но animal.eats по-прежнему true, потому что мы прототип не трогали. Такое свойство называют затеняющим: оно закрывает одноимённое свойство из прототипа. Если свойство удалить командой delete, затенение исчезает, и rabbit.eats снова возвращает true из animal. Справа поиск свойства записан псевдокодом, это обычный цикл: пока объект не null, проверяем, есть ли у него собственное свойство с нужным именем; если есть - возвращаем значение; если нет - переходим к прототипу; дошли до конца - undefined. (≈ 0:45)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о функциях-конструкторах. До сих пор мы связывали объекты руками. Но обычно нужно создавать много однотипных объектов. Для этого в JavaScript исторически использовали функции-конструкторы. Это обычная функция, которую вызывают через слово new. Имя принято писать с заглавной буквы. Смотрим пример. Функция Person принимает имя и записывает его в this.name. Дальше мы кладём метод hello в специальное свойство Person.prototype. И создаём двух людей: Аню и Борю. Что получилось в памяти? У anna есть одно своё свойство name со значением «Аня». У boris тоже одно своё: «Боря». А метод hello хранится в одном месте - в Person.prototype, туда же ведут скрытые ссылки обоих объектов. Поэтому anna.hello и boris.hello - это одна и та же функция. (≈ 1:00)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 именно делает new, когда мы пишем new Person с именем Аня? Четыре шага. Первый: создаётся пустой объект. Второй: ему ставится скрытая ссылка на Person.prototype - именно так объект узнаёт, где искать метод hello. Третий: функция Person вызывается так, что this внутри неё - это наш новый объект; строка this.name равно name записывает в него имя. Четвёртый: объект возвращается как результат, если только функция сама не вернула другой объект. Справа те же шаги записаны псевдокодом - функция myNew. Если вы поймёте этот короткий код, вы поймёте оператор new целиком: он просто создаёт объект, связывает его с prototype функции и запускает конструктор. (≈ 0:45)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можно разобрать главную путаницу: __proto__ и prototype. Это две разные вещи, и теперь у нас есть пример, на котором это видно. __proto__ есть у любого объекта: у anna, у Person, у чего угодно. Это ссылка на прототип, ответ на вопрос «кто мой родитель». Её использует движок, когда ищет свойство. А prototype есть только у функций. Это заготовка, ответ на вопрос «что отдать детям»: на него смотрит оператор new в момент создания объекта. В коде это видно в трёх строках. Первая: anna.__proto__ равно Person.prototype - ссылка нашей Ани ведёт именно на заготовку. Вторая: Person.prototype.constructor равно Person - заготовка помнит, какой функцией создана. Третья: у самой anna свойства prototype нет, получаем undefined. Совет: в современном коде читайте прототип через Object.getPrototypeOf, а не через __proto__. (≈ 1:00)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самое интересное: как раньше, до 2015 года, делали наследование. Хотим класс Dog, который наследует от Animal. Нужны четыре ручных шага. Шаг первый: в конструкторе Dog вызываем Animal.call(this, name). Это запускает родительский конструктор на нашем новом объекте, и у него появляется свойство name. Шаг второй: заменяем Dog.prototype на новый объект, созданный через Object.create от Animal.prototype. Так заготовка собак получает скрытую ссылку на заготовку животных. Шаг третий: при замене пропало свойство constructor, и мы возвращаем его вручную. Шаг четвёртый: в своём speak мы хотим вызвать метод родителя, делаем это через Animal.prototype.speak.call(this). Забыл любой шаг - наследование ломается, и новичку это угадать трудно. В конце создаём rex через new Dog. (≈ 1:15)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Посмотрим, что мы построили, как цепочку. Слева направо: сам rex со своим единственным свойством name. Его скрытая ссылка ведёт в Dog.prototype, где лежит speak собак и constructor. Ссылка Dog.prototype ведёт в Animal.prototype, там speak животных. Дальше Object.prototype с общими методами вроде toString, и наконец null - конец цепочки. В таблице показано, где найден каждый вызов. rex.name лежит у самого rex. rex.speak() движок находит уже в Dog.prototype и получает «Рекс издаёт звук: гав». Метод родителя мы вызываем вручную через call(this), чтобы this был rex. toString находится в самом конце цепочки. А instanceof просто проверяет, есть ли Animal.prototype среди прототипов rex. (≈ 1:00)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тот же самый пример, но современным синтаксисом. Здесь всё то же самое, только четыре ручных шага спрятаны. Слово constructor - это тело функции Animal. Метод speak, написанный в теле класса, движок кладёт в Animal.prototype.speak. Слово extends делает сразу два шага: связывает Dog.prototype с Animal.prototype и выставляет constructor. Плюс связывает сами функции: Dog ссылается на Animal. Слово super.speak() вызывает метод родителя, где this остаётся rex. Результат тот же: «Рекс издаёт звук: гав». Главная мысль всего доклада: class не вводит новую модель, а даёт удобный синтаксис поверх той же цепочки прототипов, которую мы только что разобрали. Это можно проверить: Object.getPrototypeOf от Dog.prototype равно Animal.prototype. (≈ 1:00)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Но «просто сахар» - не совсем точно. У классов есть отличия от функций-конструкторов. Первое: класс нельзя вызвать без new, будет TypeError, а функцию можно - и это часто приводило к багам. Второе: методы класса не перечисляются в for...in, а методы, присвоенные в prototype вручную, перечисляются. Третье: тело класса всегда работает в строгом режиме. Четвёртое: класс не поднимается как function declaration - до объявления он недоступен. А ещё поля класса создаются в самом экземпляре, а методы лежат в Class.prototype. (≈ 0:55)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Подведу итоги. Наследование в JavaScript - это ссылки между объектами, а не копирование. Поиск идёт по цепочке до null. __proto__ - ссылка у объекта, prototype - заготовка у функции для new. А class и extends - удобный синтаксис над той же цепочкой, с несколькими полезными ограничениями. Спасибо за внимание, готов ответить на вопросы. (≈ 0:30)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42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F3F5F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F3F5F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F3F5F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F3F5F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5B942"/>
                </a:solidFill>
                <a:latin typeface="IBM Plex Sans" pitchFamily="34" charset="0"/>
                <a:ea typeface="IBM Plex Sans" pitchFamily="34" charset="-122"/>
                <a:cs typeface="IBM Plex Sans" pitchFamily="34" charset="-120"/>
              </a:rPr>
              <a:t>СПП · ДОКЛАД</a:t>
            </a:r>
            <a:endParaRPr lang="en-US" sz="1400" dirty="0"/>
          </a:p>
        </p:txBody>
      </p:sp>
      <p:sp>
        <p:nvSpPr>
          <p:cNvPr id="3" name="Text 1"/>
          <p:cNvSpPr>
            <a:spLocks noGrp="1"/>
          </p:cNvSpPr>
          <p:nvPr>
            <p:ph type="title"/>
          </p:nvPr>
        </p:nvSpPr>
        <p:spPr>
          <a:xfrm>
            <a:off x="812800" y="2151380"/>
            <a:ext cx="10883392" cy="15189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3F5FA"/>
                </a:solidFill>
                <a:latin typeface="IBM Plex Sans" pitchFamily="34" charset="0"/>
                <a:ea typeface="IBM Plex Sans" pitchFamily="34" charset="-122"/>
                <a:cs typeface="IBM Plex Sans" pitchFamily="34" charset="-120"/>
              </a:rPr>
              <a:t>Прототипное наследование в JavaScript</a:t>
            </a:r>
            <a:endParaRPr lang="en-US" sz="5600" dirty="0"/>
          </a:p>
        </p:txBody>
      </p:sp>
      <p:sp>
        <p:nvSpPr>
          <p:cNvPr id="4" name="Text 2"/>
          <p:cNvSpPr/>
          <p:nvPr/>
        </p:nvSpPr>
        <p:spPr>
          <a:xfrm>
            <a:off x="812800" y="384810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9AA6BF"/>
                </a:solidFill>
                <a:latin typeface="IBM Plex Sans" pitchFamily="34" charset="0"/>
                <a:ea typeface="IBM Plex Sans" pitchFamily="34" charset="-122"/>
                <a:cs typeface="IBM Plex Sans" pitchFamily="34" charset="-120"/>
              </a:rPr>
              <a:t>Прототипная цепочка · __proto__ и prototype · как классы работают через прототипы</a:t>
            </a:r>
            <a:endParaRPr lang="en-US" sz="2000" dirty="0"/>
          </a:p>
        </p:txBody>
      </p:sp>
      <p:sp>
        <p:nvSpPr>
          <p:cNvPr id="5" name="Text 3"/>
          <p:cNvSpPr/>
          <p:nvPr/>
        </p:nvSpPr>
        <p:spPr>
          <a:xfrm>
            <a:off x="815975" y="5296535"/>
            <a:ext cx="1141730" cy="542290"/>
          </a:xfrm>
          <a:prstGeom prst="roundRect">
            <a:avLst>
              <a:gd name="adj" fmla="val 18150"/>
            </a:avLst>
          </a:prstGeom>
          <a:solidFill>
            <a:srgbClr val="1B2340"/>
          </a:solidFill>
          <a:ln w="6350">
            <a:solidFill>
              <a:srgbClr val="2E3961"/>
            </a:solidFill>
            <a:prstDash val="solid"/>
          </a:ln>
        </p:spPr>
        <p:txBody>
          <a:bodyPr wrap="none" lIns="0" tIns="0" rIns="0" bIns="0" rtlCol="0" anchor="ctr">
            <a:normAutofit/>
          </a:bodyPr>
          <a:lstStyle/>
          <a:p>
            <a:pPr marL="0" indent="0" algn="ctr">
              <a:lnSpc>
                <a:spcPts val="2240"/>
              </a:lnSpc>
              <a:buNone/>
            </a:pPr>
            <a:r>
              <a:rPr lang="en-US" sz="1600" dirty="0">
                <a:solidFill>
                  <a:srgbClr val="F5B942"/>
                </a:solidFill>
                <a:latin typeface="JetBrains Mono" pitchFamily="49" charset="0"/>
                <a:ea typeface="JetBrains Mono" pitchFamily="49" charset="-122"/>
                <a:cs typeface="JetBrains Mono" pitchFamily="49" charset="-120"/>
              </a:rPr>
              <a:t>rabbit</a:t>
            </a:r>
            <a:endParaRPr lang="en-US" sz="1600" dirty="0"/>
          </a:p>
        </p:txBody>
      </p:sp>
      <p:pic>
        <p:nvPicPr>
          <p:cNvPr id="6" name="Image 0" descr="arrow-right"/>
          <p:cNvPicPr>
            <a:picLocks noChangeAspect="1"/>
          </p:cNvPicPr>
          <p:nvPr/>
        </p:nvPicPr>
        <p:blipFill>
          <a:blip r:embed="rId3"/>
          <a:srcRect/>
          <a:stretch/>
        </p:blipFill>
        <p:spPr>
          <a:xfrm>
            <a:off x="2087880" y="5453380"/>
            <a:ext cx="457200" cy="228600"/>
          </a:xfrm>
          <a:prstGeom prst="rect">
            <a:avLst/>
          </a:prstGeom>
        </p:spPr>
      </p:pic>
      <p:sp>
        <p:nvSpPr>
          <p:cNvPr id="7" name="Text 4"/>
          <p:cNvSpPr/>
          <p:nvPr/>
        </p:nvSpPr>
        <p:spPr>
          <a:xfrm>
            <a:off x="2675255" y="5296535"/>
            <a:ext cx="1141730" cy="542290"/>
          </a:xfrm>
          <a:prstGeom prst="roundRect">
            <a:avLst>
              <a:gd name="adj" fmla="val 18150"/>
            </a:avLst>
          </a:prstGeom>
          <a:solidFill>
            <a:srgbClr val="1B2340"/>
          </a:solidFill>
          <a:ln w="6350">
            <a:solidFill>
              <a:srgbClr val="2E3961"/>
            </a:solidFill>
            <a:prstDash val="solid"/>
          </a:ln>
        </p:spPr>
        <p:txBody>
          <a:bodyPr wrap="none" lIns="0" tIns="0" rIns="0" bIns="0" rtlCol="0" anchor="ctr">
            <a:normAutofit/>
          </a:bodyPr>
          <a:lstStyle/>
          <a:p>
            <a:pPr marL="0" indent="0" algn="ctr">
              <a:lnSpc>
                <a:spcPts val="2240"/>
              </a:lnSpc>
              <a:buNone/>
            </a:pPr>
            <a:r>
              <a:rPr lang="en-US" sz="1600" dirty="0">
                <a:solidFill>
                  <a:srgbClr val="F5B942"/>
                </a:solidFill>
                <a:latin typeface="JetBrains Mono" pitchFamily="49" charset="0"/>
                <a:ea typeface="JetBrains Mono" pitchFamily="49" charset="-122"/>
                <a:cs typeface="JetBrains Mono" pitchFamily="49" charset="-120"/>
              </a:rPr>
              <a:t>animal</a:t>
            </a:r>
            <a:endParaRPr lang="en-US" sz="1600" dirty="0"/>
          </a:p>
        </p:txBody>
      </p:sp>
      <p:pic>
        <p:nvPicPr>
          <p:cNvPr id="8" name="Image 1" descr="arrow-right"/>
          <p:cNvPicPr>
            <a:picLocks noChangeAspect="1"/>
          </p:cNvPicPr>
          <p:nvPr/>
        </p:nvPicPr>
        <p:blipFill>
          <a:blip r:embed="rId3"/>
          <a:srcRect/>
          <a:stretch/>
        </p:blipFill>
        <p:spPr>
          <a:xfrm>
            <a:off x="3947160" y="5453380"/>
            <a:ext cx="457200" cy="228600"/>
          </a:xfrm>
          <a:prstGeom prst="rect">
            <a:avLst/>
          </a:prstGeom>
        </p:spPr>
      </p:pic>
      <p:sp>
        <p:nvSpPr>
          <p:cNvPr id="9" name="Text 5"/>
          <p:cNvSpPr/>
          <p:nvPr/>
        </p:nvSpPr>
        <p:spPr>
          <a:xfrm>
            <a:off x="4534535" y="5296535"/>
            <a:ext cx="2360930" cy="542290"/>
          </a:xfrm>
          <a:prstGeom prst="roundRect">
            <a:avLst>
              <a:gd name="adj" fmla="val 18150"/>
            </a:avLst>
          </a:prstGeom>
          <a:solidFill>
            <a:srgbClr val="1B2340"/>
          </a:solidFill>
          <a:ln w="6350">
            <a:solidFill>
              <a:srgbClr val="2E3961"/>
            </a:solidFill>
            <a:prstDash val="solid"/>
          </a:ln>
        </p:spPr>
        <p:txBody>
          <a:bodyPr wrap="none" lIns="0" tIns="0" rIns="0" bIns="0" rtlCol="0" anchor="ctr">
            <a:normAutofit/>
          </a:bodyPr>
          <a:lstStyle/>
          <a:p>
            <a:pPr marL="0" indent="0" algn="ctr">
              <a:lnSpc>
                <a:spcPts val="2240"/>
              </a:lnSpc>
              <a:buNone/>
            </a:pPr>
            <a:r>
              <a:rPr lang="en-US" sz="1600" dirty="0">
                <a:solidFill>
                  <a:srgbClr val="F5B942"/>
                </a:solidFill>
                <a:latin typeface="JetBrains Mono" pitchFamily="49" charset="0"/>
                <a:ea typeface="JetBrains Mono" pitchFamily="49" charset="-122"/>
                <a:cs typeface="JetBrains Mono" pitchFamily="49" charset="-120"/>
              </a:rPr>
              <a:t>Object.prototype</a:t>
            </a:r>
            <a:endParaRPr lang="en-US" sz="1600" dirty="0"/>
          </a:p>
        </p:txBody>
      </p:sp>
      <p:pic>
        <p:nvPicPr>
          <p:cNvPr id="10" name="Image 2" descr="arrow-right"/>
          <p:cNvPicPr>
            <a:picLocks noChangeAspect="1"/>
          </p:cNvPicPr>
          <p:nvPr/>
        </p:nvPicPr>
        <p:blipFill>
          <a:blip r:embed="rId3"/>
          <a:srcRect/>
          <a:stretch/>
        </p:blipFill>
        <p:spPr>
          <a:xfrm>
            <a:off x="7025640" y="5453380"/>
            <a:ext cx="457200" cy="228600"/>
          </a:xfrm>
          <a:prstGeom prst="rect">
            <a:avLst/>
          </a:prstGeom>
        </p:spPr>
      </p:pic>
      <p:sp>
        <p:nvSpPr>
          <p:cNvPr id="11" name="Text 6"/>
          <p:cNvSpPr/>
          <p:nvPr/>
        </p:nvSpPr>
        <p:spPr>
          <a:xfrm>
            <a:off x="7613015" y="5296535"/>
            <a:ext cx="897890" cy="542290"/>
          </a:xfrm>
          <a:prstGeom prst="roundRect">
            <a:avLst>
              <a:gd name="adj" fmla="val 18150"/>
            </a:avLst>
          </a:prstGeom>
          <a:noFill/>
          <a:ln w="6350">
            <a:solidFill>
              <a:srgbClr val="5B6788"/>
            </a:solidFill>
            <a:prstDash val="dash"/>
          </a:ln>
        </p:spPr>
        <p:txBody>
          <a:bodyPr wrap="none" lIns="1" tIns="0" rIns="0" bIns="0" rtlCol="0" anchor="ctr">
            <a:normAutofit/>
          </a:bodyPr>
          <a:lstStyle/>
          <a:p>
            <a:pPr marL="0" indent="0" algn="ctr">
              <a:lnSpc>
                <a:spcPts val="2240"/>
              </a:lnSpc>
              <a:buNone/>
            </a:pPr>
            <a:r>
              <a:rPr lang="en-US" sz="1600" dirty="0">
                <a:solidFill>
                  <a:srgbClr val="9AA6BF"/>
                </a:solidFill>
                <a:latin typeface="JetBrains Mono" pitchFamily="49" charset="0"/>
                <a:ea typeface="JetBrains Mono" pitchFamily="49" charset="-122"/>
                <a:cs typeface="JetBrains Mono" pitchFamily="49" charset="-120"/>
              </a:rPr>
              <a:t>null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1B2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5FA"/>
                </a:solidFill>
                <a:latin typeface="IBM Plex Sans" pitchFamily="34" charset="0"/>
                <a:ea typeface="IBM Plex Sans" pitchFamily="34" charset="-122"/>
                <a:cs typeface="IBM Plex Sans" pitchFamily="34" charset="-120"/>
              </a:rPr>
              <a:t>Зачем нужны прототипы</a:t>
            </a:r>
            <a:endParaRPr lang="en-US" sz="3600" dirty="0"/>
          </a:p>
        </p:txBody>
      </p:sp>
      <p:sp>
        <p:nvSpPr>
          <p:cNvPr id="3" name="Text 1"/>
          <p:cNvSpPr/>
          <p:nvPr/>
        </p:nvSpPr>
        <p:spPr>
          <a:xfrm>
            <a:off x="812800" y="1913890"/>
            <a:ext cx="531088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B942"/>
                </a:solidFill>
                <a:latin typeface="IBM Plex Sans" pitchFamily="34" charset="0"/>
                <a:ea typeface="IBM Plex Sans" pitchFamily="34" charset="-122"/>
                <a:cs typeface="IBM Plex Sans" pitchFamily="34" charset="-120"/>
              </a:rPr>
              <a:t>БЕЗ ПРОТОТИПА</a:t>
            </a:r>
            <a:endParaRPr lang="en-US" sz="1200" dirty="0"/>
          </a:p>
        </p:txBody>
      </p:sp>
      <p:sp>
        <p:nvSpPr>
          <p:cNvPr id="4" name="Text 2"/>
          <p:cNvSpPr/>
          <p:nvPr/>
        </p:nvSpPr>
        <p:spPr>
          <a:xfrm>
            <a:off x="815975" y="2257425"/>
            <a:ext cx="5149850" cy="2835910"/>
          </a:xfrm>
          <a:prstGeom prst="roundRect">
            <a:avLst>
              <a:gd name="adj" fmla="val 4366"/>
            </a:avLst>
          </a:prstGeom>
          <a:solidFill>
            <a:srgbClr val="0A0E18"/>
          </a:solidFill>
          <a:ln w="6350">
            <a:solidFill>
              <a:srgbClr val="2E3961"/>
            </a:solidFill>
            <a:prstDash val="solid"/>
          </a:ln>
        </p:spPr>
        <p:txBody>
          <a:bodyPr wrap="none" lIns="194238" tIns="143438" rIns="53573" bIns="118038" rtlCol="0" anchor="t">
            <a:normAutofit/>
          </a:bodyPr>
          <a:lstStyle/>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const dog1 = { </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name: 'Рекс',</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bark() { return 'Гав!'; }</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const dog2 = { </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name: 'Шарик',</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bark() { return 'Гав!'; } </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dog1.bark === dog2.bark  </a:t>
            </a:r>
            <a:r>
              <a:rPr lang="en-US" sz="1300" dirty="0">
                <a:solidFill>
                  <a:srgbClr val="F08A8A"/>
                </a:solidFill>
                <a:latin typeface="JetBrains Mono" pitchFamily="49" charset="0"/>
                <a:ea typeface="JetBrains Mono" pitchFamily="49" charset="-122"/>
                <a:cs typeface="JetBrains Mono" pitchFamily="49" charset="-120"/>
              </a:rPr>
              <a:t>// false</a:t>
            </a:r>
            <a:endParaRPr lang="en-US" sz="1300" dirty="0"/>
          </a:p>
        </p:txBody>
      </p:sp>
      <p:sp>
        <p:nvSpPr>
          <p:cNvPr id="5" name="Text 3"/>
          <p:cNvSpPr/>
          <p:nvPr/>
        </p:nvSpPr>
        <p:spPr>
          <a:xfrm>
            <a:off x="812800" y="5223510"/>
            <a:ext cx="54102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1E4"/>
                </a:solidFill>
                <a:latin typeface="IBM Plex Sans" pitchFamily="34" charset="0"/>
                <a:ea typeface="IBM Plex Sans" pitchFamily="34" charset="-122"/>
                <a:cs typeface="IBM Plex Sans" pitchFamily="34" charset="-120"/>
              </a:rPr>
              <a:t>Функция </a:t>
            </a:r>
            <a:r>
              <a:rPr lang="en-US" sz="1400" b="1" dirty="0">
                <a:solidFill>
                  <a:srgbClr val="F5B942"/>
                </a:solidFill>
                <a:latin typeface="IBM Plex Sans" pitchFamily="34" charset="0"/>
                <a:ea typeface="IBM Plex Sans" pitchFamily="34" charset="-122"/>
                <a:cs typeface="IBM Plex Sans" pitchFamily="34" charset="-120"/>
              </a:rPr>
              <a:t>bark</a:t>
            </a:r>
            <a:r>
              <a:rPr lang="en-US" sz="1400" dirty="0">
                <a:solidFill>
                  <a:srgbClr val="C9D1E4"/>
                </a:solidFill>
                <a:latin typeface="IBM Plex Sans" pitchFamily="34" charset="0"/>
                <a:ea typeface="IBM Plex Sans" pitchFamily="34" charset="-122"/>
                <a:cs typeface="IBM Plex Sans" pitchFamily="34" charset="-120"/>
              </a:rPr>
              <a:t> создана дважды: по копии в каждом объекте.</a:t>
            </a:r>
            <a:endParaRPr lang="en-US" sz="1400" dirty="0"/>
          </a:p>
        </p:txBody>
      </p:sp>
      <p:sp>
        <p:nvSpPr>
          <p:cNvPr id="6" name="Text 4"/>
          <p:cNvSpPr/>
          <p:nvPr/>
        </p:nvSpPr>
        <p:spPr>
          <a:xfrm>
            <a:off x="6223000" y="1913255"/>
            <a:ext cx="531088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CC8E8"/>
                </a:solidFill>
                <a:latin typeface="IBM Plex Sans" pitchFamily="34" charset="0"/>
                <a:ea typeface="IBM Plex Sans" pitchFamily="34" charset="-122"/>
                <a:cs typeface="IBM Plex Sans" pitchFamily="34" charset="-120"/>
              </a:rPr>
              <a:t>С ПРОТОТИПОМ</a:t>
            </a:r>
            <a:endParaRPr lang="en-US" sz="1200" dirty="0"/>
          </a:p>
        </p:txBody>
      </p:sp>
      <p:sp>
        <p:nvSpPr>
          <p:cNvPr id="7" name="Text 5"/>
          <p:cNvSpPr/>
          <p:nvPr/>
        </p:nvSpPr>
        <p:spPr>
          <a:xfrm>
            <a:off x="6226175" y="2256790"/>
            <a:ext cx="5149850" cy="2588260"/>
          </a:xfrm>
          <a:prstGeom prst="roundRect">
            <a:avLst>
              <a:gd name="adj" fmla="val 4784"/>
            </a:avLst>
          </a:prstGeom>
          <a:solidFill>
            <a:srgbClr val="0A0E18"/>
          </a:solidFill>
          <a:ln w="6350">
            <a:solidFill>
              <a:srgbClr val="2E3961"/>
            </a:solidFill>
            <a:prstDash val="solid"/>
          </a:ln>
        </p:spPr>
        <p:txBody>
          <a:bodyPr wrap="none" lIns="194238" tIns="143438" rIns="53573" bIns="118038" rtlCol="0" anchor="t">
            <a:normAutofit/>
          </a:bodyPr>
          <a:lstStyle/>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const dogMethods = {</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bark() { return 'Гав!'; } };</a:t>
            </a:r>
            <a:endParaRPr lang="en-US" sz="1300" dirty="0"/>
          </a:p>
          <a:p>
            <a:pPr marL="0" indent="0" algn="l">
              <a:lnSpc>
                <a:spcPts val="1950"/>
              </a:lnSpc>
              <a:buNone/>
            </a:pP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const dog1 = Object.create(dogMethods);</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dog1.name = 'Рекс';</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const dog2 = Object.create(dogMethods);</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dog2.name = 'Шарик';</a:t>
            </a:r>
            <a:endParaRPr lang="en-US" sz="1300" dirty="0"/>
          </a:p>
          <a:p>
            <a:pPr marL="0" indent="0" algn="l">
              <a:lnSpc>
                <a:spcPts val="1950"/>
              </a:lnSpc>
              <a:buNone/>
            </a:pP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dog1.bark === dog2.bark  </a:t>
            </a:r>
            <a:r>
              <a:rPr lang="en-US" sz="1300" dirty="0">
                <a:solidFill>
                  <a:srgbClr val="8BD5A0"/>
                </a:solidFill>
                <a:latin typeface="JetBrains Mono" pitchFamily="49" charset="0"/>
                <a:ea typeface="JetBrains Mono" pitchFamily="49" charset="-122"/>
                <a:cs typeface="JetBrains Mono" pitchFamily="49" charset="-120"/>
              </a:rPr>
              <a:t>// true</a:t>
            </a:r>
            <a:endParaRPr lang="en-US" sz="1300" dirty="0"/>
          </a:p>
        </p:txBody>
      </p:sp>
      <p:sp>
        <p:nvSpPr>
          <p:cNvPr id="8" name="Text 6"/>
          <p:cNvSpPr/>
          <p:nvPr/>
        </p:nvSpPr>
        <p:spPr>
          <a:xfrm>
            <a:off x="6223000" y="4975225"/>
            <a:ext cx="531088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1E4"/>
                </a:solidFill>
                <a:latin typeface="IBM Plex Sans" pitchFamily="34" charset="0"/>
                <a:ea typeface="IBM Plex Sans" pitchFamily="34" charset="-122"/>
                <a:cs typeface="IBM Plex Sans" pitchFamily="34" charset="-120"/>
              </a:rPr>
              <a:t>Функция </a:t>
            </a:r>
            <a:r>
              <a:rPr lang="en-US" sz="1400" b="1" dirty="0">
                <a:solidFill>
                  <a:srgbClr val="5CC8E8"/>
                </a:solidFill>
                <a:latin typeface="IBM Plex Sans" pitchFamily="34" charset="0"/>
                <a:ea typeface="IBM Plex Sans" pitchFamily="34" charset="-122"/>
                <a:cs typeface="IBM Plex Sans" pitchFamily="34" charset="-120"/>
              </a:rPr>
              <a:t>bark</a:t>
            </a:r>
            <a:r>
              <a:rPr lang="en-US" sz="1400" dirty="0">
                <a:solidFill>
                  <a:srgbClr val="C9D1E4"/>
                </a:solidFill>
                <a:latin typeface="IBM Plex Sans" pitchFamily="34" charset="0"/>
                <a:ea typeface="IBM Plex Sans" pitchFamily="34" charset="-122"/>
                <a:cs typeface="IBM Plex Sans" pitchFamily="34" charset="-120"/>
              </a:rPr>
              <a:t> одна. Объекты просто ссылаются на общий объект-родитель.</a:t>
            </a:r>
            <a:endParaRPr lang="en-US" sz="1400" dirty="0"/>
          </a:p>
        </p:txBody>
      </p:sp>
      <p:sp>
        <p:nvSpPr>
          <p:cNvPr id="9" name="Text 7"/>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B0"/>
                </a:solidFill>
                <a:latin typeface="IBM Plex Sans" pitchFamily="34" charset="0"/>
                <a:ea typeface="IBM Plex Sans" pitchFamily="34" charset="-122"/>
                <a:cs typeface="IBM Plex Sans" pitchFamily="34" charset="-120"/>
              </a:rPr>
              <a:t>Прототипное наследование в JavaScript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2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5FA"/>
                </a:solidFill>
                <a:latin typeface="IBM Plex Sans" pitchFamily="34" charset="0"/>
                <a:ea typeface="IBM Plex Sans" pitchFamily="34" charset="-122"/>
                <a:cs typeface="IBM Plex Sans" pitchFamily="34" charset="-120"/>
              </a:rPr>
              <a:t>Что внутри объекта</a:t>
            </a:r>
            <a:endParaRPr lang="en-US" sz="3600" dirty="0"/>
          </a:p>
        </p:txBody>
      </p:sp>
      <p:sp>
        <p:nvSpPr>
          <p:cNvPr id="3" name="Text 1"/>
          <p:cNvSpPr/>
          <p:nvPr/>
        </p:nvSpPr>
        <p:spPr>
          <a:xfrm>
            <a:off x="815975" y="1522095"/>
            <a:ext cx="10560050" cy="1597660"/>
          </a:xfrm>
          <a:prstGeom prst="roundRect">
            <a:avLst>
              <a:gd name="adj" fmla="val 7750"/>
            </a:avLst>
          </a:prstGeom>
          <a:solidFill>
            <a:srgbClr val="0A0E18"/>
          </a:solidFill>
          <a:ln w="6350">
            <a:solidFill>
              <a:srgbClr val="2E3961"/>
            </a:solidFill>
            <a:prstDash val="solid"/>
          </a:ln>
        </p:spPr>
        <p:txBody>
          <a:bodyPr wrap="none" lIns="219638" tIns="143438" rIns="0" bIns="118038" rtlCol="0" anchor="t">
            <a:normAutofit/>
          </a:bodyPr>
          <a:lstStyle/>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const animal = {</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eats: true,</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walk() { return this.name + ' идёт'; }</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const rabbit = { name: 'Зайка', jumps: true };</a:t>
            </a:r>
            <a:endParaRPr lang="en-US" sz="1300" dirty="0"/>
          </a:p>
        </p:txBody>
      </p:sp>
      <p:sp>
        <p:nvSpPr>
          <p:cNvPr id="4" name="Shape 2"/>
          <p:cNvSpPr/>
          <p:nvPr/>
        </p:nvSpPr>
        <p:spPr>
          <a:xfrm>
            <a:off x="815975" y="3329305"/>
            <a:ext cx="5175250" cy="1329690"/>
          </a:xfrm>
          <a:prstGeom prst="roundRect">
            <a:avLst>
              <a:gd name="adj" fmla="val 9312"/>
            </a:avLst>
          </a:prstGeom>
          <a:solidFill>
            <a:srgbClr val="1B2340"/>
          </a:solidFill>
          <a:ln w="6350">
            <a:solidFill>
              <a:srgbClr val="2E3961"/>
            </a:solidFill>
            <a:prstDash val="solid"/>
          </a:ln>
        </p:spPr>
        <p:txBody>
          <a:bodyPr/>
          <a:lstStyle/>
          <a:p>
            <a:endParaRPr lang="ru-RU"/>
          </a:p>
        </p:txBody>
      </p:sp>
      <p:sp>
        <p:nvSpPr>
          <p:cNvPr id="5" name="Text 3"/>
          <p:cNvSpPr/>
          <p:nvPr/>
        </p:nvSpPr>
        <p:spPr>
          <a:xfrm>
            <a:off x="1046480" y="3534411"/>
            <a:ext cx="485566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B942"/>
                </a:solidFill>
                <a:latin typeface="JetBrains Mono" pitchFamily="49" charset="0"/>
                <a:ea typeface="JetBrains Mono" pitchFamily="49" charset="-122"/>
                <a:cs typeface="JetBrains Mono" pitchFamily="49" charset="-120"/>
              </a:rPr>
              <a:t>animal</a:t>
            </a:r>
            <a:endParaRPr lang="en-US" sz="1600" dirty="0"/>
          </a:p>
        </p:txBody>
      </p:sp>
      <p:sp>
        <p:nvSpPr>
          <p:cNvPr id="6" name="Text 4"/>
          <p:cNvSpPr/>
          <p:nvPr/>
        </p:nvSpPr>
        <p:spPr>
          <a:xfrm>
            <a:off x="1046480" y="3867150"/>
            <a:ext cx="485566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AA6BF"/>
                </a:solidFill>
                <a:latin typeface="IBM Plex Sans" pitchFamily="34" charset="0"/>
                <a:ea typeface="IBM Plex Sans" pitchFamily="34" charset="-122"/>
                <a:cs typeface="IBM Plex Sans" pitchFamily="34" charset="-120"/>
              </a:rPr>
              <a:t>Свои свойства:</a:t>
            </a:r>
            <a:r>
              <a:rPr lang="en-US" sz="1400" dirty="0">
                <a:solidFill>
                  <a:srgbClr val="E8ECF4"/>
                </a:solidFill>
                <a:latin typeface="IBM Plex Sans" pitchFamily="34" charset="0"/>
                <a:ea typeface="IBM Plex Sans" pitchFamily="34" charset="-122"/>
                <a:cs typeface="IBM Plex Sans" pitchFamily="34" charset="-120"/>
              </a:rPr>
              <a:t> eats, walk</a:t>
            </a:r>
            <a:endParaRPr lang="en-US" sz="1400" dirty="0"/>
          </a:p>
        </p:txBody>
      </p:sp>
      <p:sp>
        <p:nvSpPr>
          <p:cNvPr id="7" name="Text 5"/>
          <p:cNvSpPr/>
          <p:nvPr/>
        </p:nvSpPr>
        <p:spPr>
          <a:xfrm>
            <a:off x="1046480" y="4204970"/>
            <a:ext cx="485566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AA6BF"/>
                </a:solidFill>
                <a:latin typeface="IBM Plex Sans" pitchFamily="34" charset="0"/>
                <a:ea typeface="IBM Plex Sans" pitchFamily="34" charset="-122"/>
                <a:cs typeface="IBM Plex Sans" pitchFamily="34" charset="-120"/>
              </a:rPr>
              <a:t>Скрытая ссылка [[Prototype]]:</a:t>
            </a:r>
            <a:r>
              <a:rPr lang="en-US" sz="1400" dirty="0">
                <a:solidFill>
                  <a:srgbClr val="E8ECF4"/>
                </a:solidFill>
                <a:latin typeface="IBM Plex Sans" pitchFamily="34" charset="0"/>
                <a:ea typeface="IBM Plex Sans" pitchFamily="34" charset="-122"/>
                <a:cs typeface="IBM Plex Sans" pitchFamily="34" charset="-120"/>
              </a:rPr>
              <a:t> Object.prototype</a:t>
            </a:r>
            <a:endParaRPr lang="en-US" sz="1400" dirty="0"/>
          </a:p>
        </p:txBody>
      </p:sp>
      <p:sp>
        <p:nvSpPr>
          <p:cNvPr id="8" name="Shape 6"/>
          <p:cNvSpPr/>
          <p:nvPr/>
        </p:nvSpPr>
        <p:spPr>
          <a:xfrm>
            <a:off x="6200775" y="3329305"/>
            <a:ext cx="5175250" cy="1329690"/>
          </a:xfrm>
          <a:prstGeom prst="roundRect">
            <a:avLst>
              <a:gd name="adj" fmla="val 9312"/>
            </a:avLst>
          </a:prstGeom>
          <a:solidFill>
            <a:srgbClr val="1B2340"/>
          </a:solidFill>
          <a:ln w="6350">
            <a:solidFill>
              <a:srgbClr val="2E3961"/>
            </a:solidFill>
            <a:prstDash val="solid"/>
          </a:ln>
        </p:spPr>
        <p:txBody>
          <a:bodyPr/>
          <a:lstStyle/>
          <a:p>
            <a:endParaRPr lang="ru-RU"/>
          </a:p>
        </p:txBody>
      </p:sp>
      <p:sp>
        <p:nvSpPr>
          <p:cNvPr id="9" name="Text 7"/>
          <p:cNvSpPr/>
          <p:nvPr/>
        </p:nvSpPr>
        <p:spPr>
          <a:xfrm>
            <a:off x="6431280" y="3534411"/>
            <a:ext cx="485566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B942"/>
                </a:solidFill>
                <a:latin typeface="JetBrains Mono" pitchFamily="49" charset="0"/>
                <a:ea typeface="JetBrains Mono" pitchFamily="49" charset="-122"/>
                <a:cs typeface="JetBrains Mono" pitchFamily="49" charset="-120"/>
              </a:rPr>
              <a:t>rabbit</a:t>
            </a:r>
            <a:endParaRPr lang="en-US" sz="1600" dirty="0"/>
          </a:p>
        </p:txBody>
      </p:sp>
      <p:sp>
        <p:nvSpPr>
          <p:cNvPr id="10" name="Text 8"/>
          <p:cNvSpPr/>
          <p:nvPr/>
        </p:nvSpPr>
        <p:spPr>
          <a:xfrm>
            <a:off x="6431280" y="3867150"/>
            <a:ext cx="485566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AA6BF"/>
                </a:solidFill>
                <a:latin typeface="IBM Plex Sans" pitchFamily="34" charset="0"/>
                <a:ea typeface="IBM Plex Sans" pitchFamily="34" charset="-122"/>
                <a:cs typeface="IBM Plex Sans" pitchFamily="34" charset="-120"/>
              </a:rPr>
              <a:t>Свои свойства:</a:t>
            </a:r>
            <a:r>
              <a:rPr lang="en-US" sz="1400" dirty="0">
                <a:solidFill>
                  <a:srgbClr val="E8ECF4"/>
                </a:solidFill>
                <a:latin typeface="IBM Plex Sans" pitchFamily="34" charset="0"/>
                <a:ea typeface="IBM Plex Sans" pitchFamily="34" charset="-122"/>
                <a:cs typeface="IBM Plex Sans" pitchFamily="34" charset="-120"/>
              </a:rPr>
              <a:t> name, jumps</a:t>
            </a:r>
            <a:endParaRPr lang="en-US" sz="1400" dirty="0"/>
          </a:p>
        </p:txBody>
      </p:sp>
      <p:sp>
        <p:nvSpPr>
          <p:cNvPr id="11" name="Text 9"/>
          <p:cNvSpPr/>
          <p:nvPr/>
        </p:nvSpPr>
        <p:spPr>
          <a:xfrm>
            <a:off x="6431280" y="4204970"/>
            <a:ext cx="485566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AA6BF"/>
                </a:solidFill>
                <a:latin typeface="IBM Plex Sans" pitchFamily="34" charset="0"/>
                <a:ea typeface="IBM Plex Sans" pitchFamily="34" charset="-122"/>
                <a:cs typeface="IBM Plex Sans" pitchFamily="34" charset="-120"/>
              </a:rPr>
              <a:t>Скрытая ссылка [[Prototype]]:</a:t>
            </a:r>
            <a:r>
              <a:rPr lang="en-US" sz="1400" dirty="0">
                <a:solidFill>
                  <a:srgbClr val="E8ECF4"/>
                </a:solidFill>
                <a:latin typeface="IBM Plex Sans" pitchFamily="34" charset="0"/>
                <a:ea typeface="IBM Plex Sans" pitchFamily="34" charset="-122"/>
                <a:cs typeface="IBM Plex Sans" pitchFamily="34" charset="-120"/>
              </a:rPr>
              <a:t> Object.prototype</a:t>
            </a:r>
            <a:endParaRPr lang="en-US" sz="1400" dirty="0"/>
          </a:p>
        </p:txBody>
      </p:sp>
      <p:sp>
        <p:nvSpPr>
          <p:cNvPr id="12" name="Text 10"/>
          <p:cNvSpPr/>
          <p:nvPr/>
        </p:nvSpPr>
        <p:spPr>
          <a:xfrm>
            <a:off x="812800" y="4865370"/>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9AA6BF"/>
                </a:solidFill>
                <a:latin typeface="IBM Plex Sans" pitchFamily="34" charset="0"/>
                <a:ea typeface="IBM Plex Sans" pitchFamily="34" charset="-122"/>
                <a:cs typeface="IBM Plex Sans" pitchFamily="34" charset="-120"/>
              </a:rPr>
              <a:t>У любого объекта есть скрытая ссылка на другой объект. Пока мы ничего не настраивали, она ведёт на Object.prototype. Объекты animal и rabbit между собой не связаны.</a:t>
            </a:r>
            <a:endParaRPr lang="en-US" sz="1500" dirty="0"/>
          </a:p>
        </p:txBody>
      </p:sp>
      <p:sp>
        <p:nvSpPr>
          <p:cNvPr id="13" name="Text 11"/>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B0"/>
                </a:solidFill>
                <a:latin typeface="IBM Plex Sans" pitchFamily="34" charset="0"/>
                <a:ea typeface="IBM Plex Sans" pitchFamily="34" charset="-122"/>
                <a:cs typeface="IBM Plex Sans" pitchFamily="34" charset="-120"/>
              </a:rPr>
              <a:t>Прототипное наследование в JavaScript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B2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5FA"/>
                </a:solidFill>
                <a:latin typeface="IBM Plex Sans" pitchFamily="34" charset="0"/>
                <a:ea typeface="IBM Plex Sans" pitchFamily="34" charset="-122"/>
                <a:cs typeface="IBM Plex Sans" pitchFamily="34" charset="-120"/>
              </a:rPr>
              <a:t>Связываем и смотрим в коде</a:t>
            </a:r>
            <a:endParaRPr lang="en-US" sz="3600" dirty="0"/>
          </a:p>
        </p:txBody>
      </p:sp>
      <p:sp>
        <p:nvSpPr>
          <p:cNvPr id="3" name="Text 1"/>
          <p:cNvSpPr/>
          <p:nvPr/>
        </p:nvSpPr>
        <p:spPr>
          <a:xfrm>
            <a:off x="815975" y="1522095"/>
            <a:ext cx="10560050" cy="556260"/>
          </a:xfrm>
          <a:prstGeom prst="roundRect">
            <a:avLst>
              <a:gd name="adj" fmla="val 22260"/>
            </a:avLst>
          </a:prstGeom>
          <a:solidFill>
            <a:srgbClr val="0A0E18"/>
          </a:solidFill>
          <a:ln w="6350">
            <a:solidFill>
              <a:srgbClr val="2E3961"/>
            </a:solidFill>
            <a:prstDash val="solid"/>
          </a:ln>
        </p:spPr>
        <p:txBody>
          <a:bodyPr wrap="none" lIns="219638" tIns="118038" rIns="0" bIns="92638" rtlCol="0" anchor="t">
            <a:normAutofit/>
          </a:bodyPr>
          <a:lstStyle/>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Object.setPrototypeOf(rabbit, animal);  </a:t>
            </a:r>
            <a:r>
              <a:rPr lang="en-US" sz="1300" dirty="0">
                <a:solidFill>
                  <a:srgbClr val="7C89A8"/>
                </a:solidFill>
                <a:latin typeface="JetBrains Mono" pitchFamily="49" charset="0"/>
                <a:ea typeface="JetBrains Mono" pitchFamily="49" charset="-122"/>
                <a:cs typeface="JetBrains Mono" pitchFamily="49" charset="-120"/>
              </a:rPr>
              <a:t>// теперь rabbit ссылается на animal</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294890"/>
          <a:ext cx="10556240" cy="2498090"/>
        </p:xfrm>
        <a:graphic>
          <a:graphicData uri="http://schemas.openxmlformats.org/drawingml/2006/table">
            <a:tbl>
              <a:tblPr/>
              <a:tblGrid>
                <a:gridCol w="4433621">
                  <a:extLst>
                    <a:ext uri="{9D8B030D-6E8A-4147-A177-3AD203B41FA5}">
                      <a16:colId xmlns:a16="http://schemas.microsoft.com/office/drawing/2014/main" val="20000"/>
                    </a:ext>
                  </a:extLst>
                </a:gridCol>
                <a:gridCol w="1900123">
                  <a:extLst>
                    <a:ext uri="{9D8B030D-6E8A-4147-A177-3AD203B41FA5}">
                      <a16:colId xmlns:a16="http://schemas.microsoft.com/office/drawing/2014/main" val="20001"/>
                    </a:ext>
                  </a:extLst>
                </a:gridCol>
                <a:gridCol w="4222496">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5B942"/>
                          </a:solidFill>
                          <a:latin typeface="IBM Plex Sans" pitchFamily="34" charset="0"/>
                          <a:ea typeface="IBM Plex Sans" pitchFamily="34" charset="-122"/>
                          <a:cs typeface="IBM Plex Sans" pitchFamily="34" charset="-120"/>
                        </a:rPr>
                        <a:t>Выражение</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555A66"/>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555A66"/>
                      </a:solidFill>
                      <a:prstDash val="solid"/>
                      <a:round/>
                      <a:headEnd type="none" w="med" len="med"/>
                      <a:tailEnd type="none" w="med" len="med"/>
                    </a:lnB>
                    <a:solidFill>
                      <a:srgbClr val="272D3E"/>
                    </a:solidFill>
                  </a:tcPr>
                </a:tc>
                <a:tc>
                  <a:txBody>
                    <a:bodyPr/>
                    <a:lstStyle/>
                    <a:p>
                      <a:pPr marL="0" indent="0">
                        <a:lnSpc>
                          <a:spcPts val="1820"/>
                        </a:lnSpc>
                        <a:buNone/>
                      </a:pPr>
                      <a:r>
                        <a:rPr lang="en-US" sz="1300" b="1" dirty="0">
                          <a:solidFill>
                            <a:srgbClr val="F5B942"/>
                          </a:solidFill>
                          <a:latin typeface="IBM Plex Sans" pitchFamily="34" charset="0"/>
                          <a:ea typeface="IBM Plex Sans" pitchFamily="34" charset="-122"/>
                          <a:cs typeface="IBM Plex Sans" pitchFamily="34" charset="-120"/>
                        </a:rPr>
                        <a:t>Результат</a:t>
                      </a:r>
                      <a:endParaRPr lang="en-US" sz="1300" dirty="0">
                        <a:latin typeface="IBM Plex Sans" charset="0"/>
                        <a:ea typeface="IBM Plex Sans" charset="0"/>
                        <a:cs typeface="IBM Plex Sans" charset="0"/>
                      </a:endParaRPr>
                    </a:p>
                  </a:txBody>
                  <a:tcPr marL="57785" marR="57785" marT="57785" marB="57785">
                    <a:lnL w="12700" cap="flat" cmpd="sng" algn="ctr">
                      <a:solidFill>
                        <a:srgbClr val="555A66"/>
                      </a:solidFill>
                      <a:prstDash val="solid"/>
                      <a:round/>
                      <a:headEnd type="none" w="med" len="med"/>
                      <a:tailEnd type="none" w="med" len="med"/>
                    </a:lnL>
                    <a:lnR w="12700" cap="flat" cmpd="sng" algn="ctr">
                      <a:solidFill>
                        <a:srgbClr val="555A66"/>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555A66"/>
                      </a:solidFill>
                      <a:prstDash val="solid"/>
                      <a:round/>
                      <a:headEnd type="none" w="med" len="med"/>
                      <a:tailEnd type="none" w="med" len="med"/>
                    </a:lnB>
                    <a:solidFill>
                      <a:srgbClr val="272D3E"/>
                    </a:solidFill>
                  </a:tcPr>
                </a:tc>
                <a:tc>
                  <a:txBody>
                    <a:bodyPr/>
                    <a:lstStyle/>
                    <a:p>
                      <a:pPr marL="0" indent="0">
                        <a:lnSpc>
                          <a:spcPts val="1820"/>
                        </a:lnSpc>
                        <a:buNone/>
                      </a:pPr>
                      <a:r>
                        <a:rPr lang="en-US" sz="1300" b="1" dirty="0">
                          <a:solidFill>
                            <a:srgbClr val="F5B942"/>
                          </a:solidFill>
                          <a:latin typeface="IBM Plex Sans" pitchFamily="34" charset="0"/>
                          <a:ea typeface="IBM Plex Sans" pitchFamily="34" charset="-122"/>
                          <a:cs typeface="IBM Plex Sans" pitchFamily="34" charset="-120"/>
                        </a:rPr>
                        <a:t>Что это значит</a:t>
                      </a:r>
                      <a:endParaRPr lang="en-US" sz="1300" dirty="0">
                        <a:latin typeface="IBM Plex Sans" charset="0"/>
                        <a:ea typeface="IBM Plex Sans" charset="0"/>
                        <a:cs typeface="IBM Plex Sans" charset="0"/>
                      </a:endParaRPr>
                    </a:p>
                  </a:txBody>
                  <a:tcPr marL="57785" marR="57785" marT="57785" marB="57785">
                    <a:lnL w="12700" cap="flat" cmpd="sng" algn="ctr">
                      <a:solidFill>
                        <a:srgbClr val="555A66"/>
                      </a:solidFill>
                      <a:prstDash val="solid"/>
                      <a:round/>
                      <a:headEnd type="none" w="med" len="med"/>
                      <a:tailEnd type="none" w="med" len="med"/>
                    </a:lnL>
                    <a:lnR w="12700" cap="flat" cmpd="sng" algn="ctr">
                      <a:solidFill>
                        <a:srgbClr val="555A66"/>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555A66"/>
                      </a:solidFill>
                      <a:prstDash val="solid"/>
                      <a:round/>
                      <a:headEnd type="none" w="med" len="med"/>
                      <a:tailEnd type="none" w="med" len="med"/>
                    </a:lnB>
                    <a:solidFill>
                      <a:srgbClr val="272D3E"/>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E8ECF4"/>
                          </a:solidFill>
                          <a:latin typeface="IBM Plex Sans" pitchFamily="34" charset="0"/>
                          <a:ea typeface="IBM Plex Sans" pitchFamily="34" charset="-122"/>
                          <a:cs typeface="IBM Plex Sans" pitchFamily="34" charset="-120"/>
                        </a:rPr>
                        <a:t>rabbit.__proto__ === animal</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555A66"/>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820"/>
                        </a:lnSpc>
                        <a:buNone/>
                      </a:pPr>
                      <a:r>
                        <a:rPr lang="en-US" sz="1300" dirty="0">
                          <a:solidFill>
                            <a:srgbClr val="8BD5A0"/>
                          </a:solidFill>
                          <a:latin typeface="IBM Plex Sans" pitchFamily="34" charset="0"/>
                          <a:ea typeface="IBM Plex Sans" pitchFamily="34" charset="-122"/>
                          <a:cs typeface="IBM Plex Sans" pitchFamily="34" charset="-120"/>
                        </a:rPr>
                        <a:t>true</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555A66"/>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820"/>
                        </a:lnSpc>
                        <a:buNone/>
                      </a:pPr>
                      <a:r>
                        <a:rPr lang="en-US" sz="1300" dirty="0">
                          <a:solidFill>
                            <a:srgbClr val="E8ECF4"/>
                          </a:solidFill>
                          <a:latin typeface="IBM Plex Sans" pitchFamily="34" charset="0"/>
                          <a:ea typeface="IBM Plex Sans" pitchFamily="34" charset="-122"/>
                          <a:cs typeface="IBM Plex Sans" pitchFamily="34" charset="-120"/>
                        </a:rPr>
                        <a:t>так читают ссылку на прототип</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555A66"/>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E8ECF4"/>
                          </a:solidFill>
                          <a:latin typeface="IBM Plex Sans" pitchFamily="34" charset="0"/>
                          <a:ea typeface="IBM Plex Sans" pitchFamily="34" charset="-122"/>
                          <a:cs typeface="IBM Plex Sans" pitchFamily="34" charset="-120"/>
                        </a:rPr>
                        <a:t>Object.getPrototypeOf(rabbit) === animal</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820"/>
                        </a:lnSpc>
                        <a:buNone/>
                      </a:pPr>
                      <a:r>
                        <a:rPr lang="en-US" sz="1300" dirty="0">
                          <a:solidFill>
                            <a:srgbClr val="8BD5A0"/>
                          </a:solidFill>
                          <a:latin typeface="IBM Plex Sans" pitchFamily="34" charset="0"/>
                          <a:ea typeface="IBM Plex Sans" pitchFamily="34" charset="-122"/>
                          <a:cs typeface="IBM Plex Sans" pitchFamily="34" charset="-120"/>
                        </a:rPr>
                        <a:t>true</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820"/>
                        </a:lnSpc>
                        <a:buNone/>
                      </a:pPr>
                      <a:r>
                        <a:rPr lang="en-US" sz="1300" dirty="0">
                          <a:solidFill>
                            <a:srgbClr val="E8ECF4"/>
                          </a:solidFill>
                          <a:latin typeface="IBM Plex Sans" pitchFamily="34" charset="0"/>
                          <a:ea typeface="IBM Plex Sans" pitchFamily="34" charset="-122"/>
                          <a:cs typeface="IBM Plex Sans" pitchFamily="34" charset="-120"/>
                        </a:rPr>
                        <a:t>то же, но «правильным» способом</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E8ECF4"/>
                          </a:solidFill>
                          <a:latin typeface="IBM Plex Sans" pitchFamily="34" charset="0"/>
                          <a:ea typeface="IBM Plex Sans" pitchFamily="34" charset="-122"/>
                          <a:cs typeface="IBM Plex Sans" pitchFamily="34" charset="-120"/>
                        </a:rPr>
                        <a:t>Object.keys(rabbit)</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820"/>
                        </a:lnSpc>
                        <a:buNone/>
                      </a:pPr>
                      <a:r>
                        <a:rPr lang="en-US" sz="1300" dirty="0">
                          <a:solidFill>
                            <a:srgbClr val="5CC8E8"/>
                          </a:solidFill>
                          <a:latin typeface="IBM Plex Sans" pitchFamily="34" charset="0"/>
                          <a:ea typeface="IBM Plex Sans" pitchFamily="34" charset="-122"/>
                          <a:cs typeface="IBM Plex Sans" pitchFamily="34" charset="-120"/>
                        </a:rPr>
                        <a:t>['name', 'jumps']</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820"/>
                        </a:lnSpc>
                        <a:buNone/>
                      </a:pPr>
                      <a:r>
                        <a:rPr lang="en-US" sz="1300" dirty="0">
                          <a:solidFill>
                            <a:srgbClr val="E8ECF4"/>
                          </a:solidFill>
                          <a:latin typeface="IBM Plex Sans" pitchFamily="34" charset="0"/>
                          <a:ea typeface="IBM Plex Sans" pitchFamily="34" charset="-122"/>
                          <a:cs typeface="IBM Plex Sans" pitchFamily="34" charset="-120"/>
                        </a:rPr>
                        <a:t>только собственные свойства</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E8ECF4"/>
                          </a:solidFill>
                          <a:latin typeface="IBM Plex Sans" pitchFamily="34" charset="0"/>
                          <a:ea typeface="IBM Plex Sans" pitchFamily="34" charset="-122"/>
                          <a:cs typeface="IBM Plex Sans" pitchFamily="34" charset="-120"/>
                        </a:rPr>
                        <a:t>rabbit.eats</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820"/>
                        </a:lnSpc>
                        <a:buNone/>
                      </a:pPr>
                      <a:r>
                        <a:rPr lang="en-US" sz="1300" dirty="0">
                          <a:solidFill>
                            <a:srgbClr val="8BD5A0"/>
                          </a:solidFill>
                          <a:latin typeface="IBM Plex Sans" pitchFamily="34" charset="0"/>
                          <a:ea typeface="IBM Plex Sans" pitchFamily="34" charset="-122"/>
                          <a:cs typeface="IBM Plex Sans" pitchFamily="34" charset="-120"/>
                        </a:rPr>
                        <a:t>true</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820"/>
                        </a:lnSpc>
                        <a:buNone/>
                      </a:pPr>
                      <a:r>
                        <a:rPr lang="en-US" sz="1300" dirty="0">
                          <a:solidFill>
                            <a:srgbClr val="E8ECF4"/>
                          </a:solidFill>
                          <a:latin typeface="IBM Plex Sans" pitchFamily="34" charset="0"/>
                          <a:ea typeface="IBM Plex Sans" pitchFamily="34" charset="-122"/>
                          <a:cs typeface="IBM Plex Sans" pitchFamily="34" charset="-120"/>
                        </a:rPr>
                        <a:t>нашли у прототипа animal</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E8ECF4"/>
                          </a:solidFill>
                          <a:latin typeface="IBM Plex Sans" pitchFamily="34" charset="0"/>
                          <a:ea typeface="IBM Plex Sans" pitchFamily="34" charset="-122"/>
                          <a:cs typeface="IBM Plex Sans" pitchFamily="34" charset="-120"/>
                        </a:rPr>
                        <a:t>Object.hasOwn(rabbit, 'eats')</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820"/>
                        </a:lnSpc>
                        <a:buNone/>
                      </a:pPr>
                      <a:r>
                        <a:rPr lang="en-US" sz="1300" dirty="0">
                          <a:solidFill>
                            <a:srgbClr val="F08A8A"/>
                          </a:solidFill>
                          <a:latin typeface="IBM Plex Sans" pitchFamily="34" charset="0"/>
                          <a:ea typeface="IBM Plex Sans" pitchFamily="34" charset="-122"/>
                          <a:cs typeface="IBM Plex Sans" pitchFamily="34" charset="-120"/>
                        </a:rPr>
                        <a:t>false</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820"/>
                        </a:lnSpc>
                        <a:buNone/>
                      </a:pPr>
                      <a:r>
                        <a:rPr lang="en-US" sz="1300" dirty="0">
                          <a:solidFill>
                            <a:srgbClr val="E8ECF4"/>
                          </a:solidFill>
                          <a:latin typeface="IBM Plex Sans" pitchFamily="34" charset="0"/>
                          <a:ea typeface="IBM Plex Sans" pitchFamily="34" charset="-122"/>
                          <a:cs typeface="IBM Plex Sans" pitchFamily="34" charset="-120"/>
                        </a:rPr>
                        <a:t>у самого rabbit такого свойства нет</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E8ECF4"/>
                          </a:solidFill>
                          <a:latin typeface="IBM Plex Sans" pitchFamily="34" charset="0"/>
                          <a:ea typeface="IBM Plex Sans" pitchFamily="34" charset="-122"/>
                          <a:cs typeface="IBM Plex Sans" pitchFamily="34" charset="-120"/>
                        </a:rPr>
                        <a:t>'eats' in rabbit</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820"/>
                        </a:lnSpc>
                        <a:buNone/>
                      </a:pPr>
                      <a:r>
                        <a:rPr lang="en-US" sz="1300" dirty="0">
                          <a:solidFill>
                            <a:srgbClr val="8BD5A0"/>
                          </a:solidFill>
                          <a:latin typeface="IBM Plex Sans" pitchFamily="34" charset="0"/>
                          <a:ea typeface="IBM Plex Sans" pitchFamily="34" charset="-122"/>
                          <a:cs typeface="IBM Plex Sans" pitchFamily="34" charset="-120"/>
                        </a:rPr>
                        <a:t>true</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820"/>
                        </a:lnSpc>
                        <a:buNone/>
                      </a:pPr>
                      <a:r>
                        <a:rPr lang="en-US" sz="1300" dirty="0">
                          <a:solidFill>
                            <a:srgbClr val="E8ECF4"/>
                          </a:solidFill>
                          <a:latin typeface="IBM Plex Sans" pitchFamily="34" charset="0"/>
                          <a:ea typeface="IBM Plex Sans" pitchFamily="34" charset="-122"/>
                          <a:cs typeface="IBM Plex Sans" pitchFamily="34" charset="-120"/>
                        </a:rPr>
                        <a:t>in ищет и по цепочке</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B0"/>
                </a:solidFill>
                <a:latin typeface="IBM Plex Sans" pitchFamily="34" charset="0"/>
                <a:ea typeface="IBM Plex Sans" pitchFamily="34" charset="-122"/>
                <a:cs typeface="IBM Plex Sans" pitchFamily="34" charset="-120"/>
              </a:rPr>
              <a:t>Прототипное наследование в JavaScript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2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5FA"/>
                </a:solidFill>
                <a:latin typeface="IBM Plex Sans" pitchFamily="34" charset="0"/>
                <a:ea typeface="IBM Plex Sans" pitchFamily="34" charset="-122"/>
                <a:cs typeface="IBM Plex Sans" pitchFamily="34" charset="-120"/>
              </a:rPr>
              <a:t>Как JavaScript ищет rabbit.walk()</a:t>
            </a:r>
            <a:endParaRPr lang="en-US" sz="3600" dirty="0"/>
          </a:p>
        </p:txBody>
      </p:sp>
      <p:sp>
        <p:nvSpPr>
          <p:cNvPr id="3" name="Text 1"/>
          <p:cNvSpPr/>
          <p:nvPr/>
        </p:nvSpPr>
        <p:spPr>
          <a:xfrm>
            <a:off x="812800" y="2661921"/>
            <a:ext cx="4803834"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B942"/>
                </a:solidFill>
                <a:latin typeface="IBM Plex Sans" pitchFamily="34" charset="0"/>
                <a:ea typeface="IBM Plex Sans" pitchFamily="34" charset="-122"/>
                <a:cs typeface="IBM Plex Sans" pitchFamily="34" charset="-120"/>
              </a:rPr>
              <a:t>1.</a:t>
            </a:r>
            <a:r>
              <a:rPr lang="en-US" sz="1600" dirty="0">
                <a:solidFill>
                  <a:srgbClr val="F3F5FA"/>
                </a:solidFill>
                <a:latin typeface="IBM Plex Sans" pitchFamily="34" charset="0"/>
                <a:ea typeface="IBM Plex Sans" pitchFamily="34" charset="-122"/>
                <a:cs typeface="IBM Plex Sans" pitchFamily="34" charset="-120"/>
              </a:rPr>
              <a:t> Смотрим в самом rabbit: там name и jumps. Метода walk нет.</a:t>
            </a:r>
            <a:endParaRPr lang="en-US" sz="1600" dirty="0"/>
          </a:p>
        </p:txBody>
      </p:sp>
      <p:sp>
        <p:nvSpPr>
          <p:cNvPr id="4" name="Text 2"/>
          <p:cNvSpPr/>
          <p:nvPr/>
        </p:nvSpPr>
        <p:spPr>
          <a:xfrm>
            <a:off x="812800" y="3408682"/>
            <a:ext cx="4803834"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B942"/>
                </a:solidFill>
                <a:latin typeface="IBM Plex Sans" pitchFamily="34" charset="0"/>
                <a:ea typeface="IBM Plex Sans" pitchFamily="34" charset="-122"/>
                <a:cs typeface="IBM Plex Sans" pitchFamily="34" charset="-120"/>
              </a:rPr>
              <a:t>2.</a:t>
            </a:r>
            <a:r>
              <a:rPr lang="en-US" sz="1600" dirty="0">
                <a:solidFill>
                  <a:srgbClr val="F3F5FA"/>
                </a:solidFill>
                <a:latin typeface="IBM Plex Sans" pitchFamily="34" charset="0"/>
                <a:ea typeface="IBM Plex Sans" pitchFamily="34" charset="-122"/>
                <a:cs typeface="IBM Plex Sans" pitchFamily="34" charset="-120"/>
              </a:rPr>
              <a:t> Идём по скрытой ссылке в animal: walk есть, берём его.</a:t>
            </a:r>
            <a:endParaRPr lang="en-US" sz="1600" dirty="0"/>
          </a:p>
        </p:txBody>
      </p:sp>
      <p:sp>
        <p:nvSpPr>
          <p:cNvPr id="5" name="Text 3"/>
          <p:cNvSpPr/>
          <p:nvPr/>
        </p:nvSpPr>
        <p:spPr>
          <a:xfrm>
            <a:off x="812800" y="4155439"/>
            <a:ext cx="4803834"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B942"/>
                </a:solidFill>
                <a:latin typeface="IBM Plex Sans" pitchFamily="34" charset="0"/>
                <a:ea typeface="IBM Plex Sans" pitchFamily="34" charset="-122"/>
                <a:cs typeface="IBM Plex Sans" pitchFamily="34" charset="-120"/>
              </a:rPr>
              <a:t>3.</a:t>
            </a:r>
            <a:r>
              <a:rPr lang="en-US" sz="1600" dirty="0">
                <a:solidFill>
                  <a:srgbClr val="F3F5FA"/>
                </a:solidFill>
                <a:latin typeface="IBM Plex Sans" pitchFamily="34" charset="0"/>
                <a:ea typeface="IBM Plex Sans" pitchFamily="34" charset="-122"/>
                <a:cs typeface="IBM Plex Sans" pitchFamily="34" charset="-120"/>
              </a:rPr>
              <a:t> Вызываем с this = rabbit (объект слева от точки). Получаем 'Зайка идёт'.</a:t>
            </a:r>
            <a:endParaRPr lang="en-US" sz="1600" dirty="0"/>
          </a:p>
        </p:txBody>
      </p:sp>
      <p:sp>
        <p:nvSpPr>
          <p:cNvPr id="6" name="Text 4"/>
          <p:cNvSpPr/>
          <p:nvPr/>
        </p:nvSpPr>
        <p:spPr>
          <a:xfrm>
            <a:off x="5733891" y="1547496"/>
            <a:ext cx="5642134" cy="4291330"/>
          </a:xfrm>
          <a:prstGeom prst="roundRect">
            <a:avLst>
              <a:gd name="adj" fmla="val 2885"/>
            </a:avLst>
          </a:prstGeom>
          <a:solidFill>
            <a:srgbClr val="0A0E18"/>
          </a:solidFill>
          <a:ln w="6350">
            <a:solidFill>
              <a:srgbClr val="2E3961"/>
            </a:solidFill>
            <a:prstDash val="solid"/>
          </a:ln>
        </p:spPr>
        <p:txBody>
          <a:bodyPr wrap="none" lIns="219638" tIns="168838" rIns="65728" bIns="168838" rtlCol="0" anchor="ctr">
            <a:normAutofit/>
          </a:bodyPr>
          <a:lstStyle/>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rabbit.walk()</a:t>
            </a:r>
            <a:endParaRPr lang="en-US" sz="1300" dirty="0"/>
          </a:p>
          <a:p>
            <a:pPr marL="0" indent="0" algn="l">
              <a:lnSpc>
                <a:spcPts val="1950"/>
              </a:lnSpc>
              <a:buNone/>
            </a:pPr>
            <a:r>
              <a:rPr lang="en-US" sz="1300" dirty="0">
                <a:solidFill>
                  <a:srgbClr val="7C89A8"/>
                </a:solidFill>
                <a:latin typeface="JetBrains Mono" pitchFamily="49" charset="0"/>
                <a:ea typeface="JetBrains Mono" pitchFamily="49" charset="-122"/>
                <a:cs typeface="JetBrains Mono" pitchFamily="49" charset="-120"/>
              </a:rPr>
              <a:t>  // 'Зайка идёт' ← из animal</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animal.walk()</a:t>
            </a:r>
            <a:endParaRPr lang="en-US" sz="1300" dirty="0"/>
          </a:p>
          <a:p>
            <a:pPr marL="0" indent="0" algn="l">
              <a:lnSpc>
                <a:spcPts val="1950"/>
              </a:lnSpc>
              <a:buNone/>
            </a:pPr>
            <a:r>
              <a:rPr lang="en-US" sz="1300" dirty="0">
                <a:solidFill>
                  <a:srgbClr val="7C89A8"/>
                </a:solidFill>
                <a:latin typeface="JetBrains Mono" pitchFamily="49" charset="0"/>
                <a:ea typeface="JetBrains Mono" pitchFamily="49" charset="-122"/>
                <a:cs typeface="JetBrains Mono" pitchFamily="49" charset="-120"/>
              </a:rPr>
              <a:t>  // 'undefined идёт' ← this = animal</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rabbit.toString()</a:t>
            </a:r>
            <a:endParaRPr lang="en-US" sz="1300" dirty="0"/>
          </a:p>
          <a:p>
            <a:pPr marL="0" indent="0" algn="l">
              <a:lnSpc>
                <a:spcPts val="1950"/>
              </a:lnSpc>
              <a:buNone/>
            </a:pPr>
            <a:r>
              <a:rPr lang="en-US" sz="1300" dirty="0">
                <a:solidFill>
                  <a:srgbClr val="7C89A8"/>
                </a:solidFill>
                <a:latin typeface="JetBrains Mono" pitchFamily="49" charset="0"/>
                <a:ea typeface="JetBrains Mono" pitchFamily="49" charset="-122"/>
                <a:cs typeface="JetBrains Mono" pitchFamily="49" charset="-120"/>
              </a:rPr>
              <a:t>  // '[object Object]' ← Object.prototype</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rabbit.fly</a:t>
            </a:r>
            <a:endParaRPr lang="en-US" sz="1300" dirty="0"/>
          </a:p>
          <a:p>
            <a:pPr marL="0" indent="0" algn="l">
              <a:lnSpc>
                <a:spcPts val="1950"/>
              </a:lnSpc>
              <a:buNone/>
            </a:pPr>
            <a:r>
              <a:rPr lang="en-US" sz="1300" dirty="0">
                <a:solidFill>
                  <a:srgbClr val="7C89A8"/>
                </a:solidFill>
                <a:latin typeface="JetBrains Mono" pitchFamily="49" charset="0"/>
                <a:ea typeface="JetBrains Mono" pitchFamily="49" charset="-122"/>
                <a:cs typeface="JetBrains Mono" pitchFamily="49" charset="-120"/>
              </a:rPr>
              <a:t>  // undefined ← дошли до null</a:t>
            </a:r>
            <a:endParaRPr lang="en-US" sz="1300" dirty="0"/>
          </a:p>
        </p:txBody>
      </p:sp>
      <p:sp>
        <p:nvSpPr>
          <p:cNvPr id="7" name="Text 5"/>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B0"/>
                </a:solidFill>
                <a:latin typeface="IBM Plex Sans" pitchFamily="34" charset="0"/>
                <a:ea typeface="IBM Plex Sans" pitchFamily="34" charset="-122"/>
                <a:cs typeface="IBM Plex Sans" pitchFamily="34" charset="-120"/>
              </a:rPr>
              <a:t>Прототипное наследование в JavaScript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1B2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5FA"/>
                </a:solidFill>
                <a:latin typeface="IBM Plex Sans" pitchFamily="34" charset="0"/>
                <a:ea typeface="IBM Plex Sans" pitchFamily="34" charset="-122"/>
                <a:cs typeface="IBM Plex Sans" pitchFamily="34" charset="-120"/>
              </a:rPr>
              <a:t>Чтение по цепочке, запись в объект</a:t>
            </a:r>
            <a:endParaRPr lang="en-US" sz="3600" dirty="0"/>
          </a:p>
        </p:txBody>
      </p:sp>
      <p:sp>
        <p:nvSpPr>
          <p:cNvPr id="3" name="Text 1"/>
          <p:cNvSpPr/>
          <p:nvPr/>
        </p:nvSpPr>
        <p:spPr>
          <a:xfrm>
            <a:off x="815975" y="1547496"/>
            <a:ext cx="5370671" cy="3529330"/>
          </a:xfrm>
          <a:prstGeom prst="roundRect">
            <a:avLst>
              <a:gd name="adj" fmla="val 3508"/>
            </a:avLst>
          </a:prstGeom>
          <a:solidFill>
            <a:srgbClr val="0A0E18"/>
          </a:solidFill>
          <a:ln w="6350">
            <a:solidFill>
              <a:srgbClr val="2E3961"/>
            </a:solidFill>
            <a:prstDash val="solid"/>
          </a:ln>
        </p:spPr>
        <p:txBody>
          <a:bodyPr wrap="none" lIns="219638" tIns="737797" rIns="73872" bIns="712398" rtlCol="0" anchor="t">
            <a:normAutofit/>
          </a:bodyPr>
          <a:lstStyle/>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rabbit.eats = false;</a:t>
            </a:r>
            <a:endParaRPr lang="en-US" sz="1300" dirty="0"/>
          </a:p>
          <a:p>
            <a:pPr marL="0" indent="0" algn="l">
              <a:lnSpc>
                <a:spcPts val="1950"/>
              </a:lnSpc>
              <a:buNone/>
            </a:pPr>
            <a:r>
              <a:rPr lang="en-US" sz="1300" dirty="0">
                <a:solidFill>
                  <a:srgbClr val="7C89A8"/>
                </a:solidFill>
                <a:latin typeface="JetBrains Mono" pitchFamily="49" charset="0"/>
                <a:ea typeface="JetBrains Mono" pitchFamily="49" charset="-122"/>
                <a:cs typeface="JetBrains Mono" pitchFamily="49" charset="-120"/>
              </a:rPr>
              <a:t>// у rabbit появилось СВОЁ свойство</a:t>
            </a:r>
            <a:endParaRPr lang="en-US" sz="1300" dirty="0"/>
          </a:p>
          <a:p>
            <a:pPr marL="0" indent="0" algn="l">
              <a:lnSpc>
                <a:spcPts val="1950"/>
              </a:lnSpc>
              <a:buNone/>
            </a:pP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rabbit.eats  </a:t>
            </a:r>
            <a:r>
              <a:rPr lang="en-US" sz="1300" dirty="0">
                <a:solidFill>
                  <a:srgbClr val="7C89A8"/>
                </a:solidFill>
                <a:latin typeface="JetBrains Mono" pitchFamily="49" charset="0"/>
                <a:ea typeface="JetBrains Mono" pitchFamily="49" charset="-122"/>
                <a:cs typeface="JetBrains Mono" pitchFamily="49" charset="-120"/>
              </a:rPr>
              <a:t>// false (своё)</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animal.eats  </a:t>
            </a:r>
            <a:r>
              <a:rPr lang="en-US" sz="1300" dirty="0">
                <a:solidFill>
                  <a:srgbClr val="7C89A8"/>
                </a:solidFill>
                <a:latin typeface="JetBrains Mono" pitchFamily="49" charset="0"/>
                <a:ea typeface="JetBrains Mono" pitchFamily="49" charset="-122"/>
                <a:cs typeface="JetBrains Mono" pitchFamily="49" charset="-120"/>
              </a:rPr>
              <a:t>// true (не изменился)</a:t>
            </a:r>
            <a:endParaRPr lang="en-US" sz="1300" dirty="0"/>
          </a:p>
          <a:p>
            <a:pPr marL="0" indent="0" algn="l">
              <a:lnSpc>
                <a:spcPts val="1950"/>
              </a:lnSpc>
              <a:buNone/>
            </a:pP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delete rabbit.eats;</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rabbit.eats  </a:t>
            </a:r>
            <a:r>
              <a:rPr lang="en-US" sz="1300" dirty="0">
                <a:solidFill>
                  <a:srgbClr val="7C89A8"/>
                </a:solidFill>
                <a:latin typeface="JetBrains Mono" pitchFamily="49" charset="0"/>
                <a:ea typeface="JetBrains Mono" pitchFamily="49" charset="-122"/>
                <a:cs typeface="JetBrains Mono" pitchFamily="49" charset="-120"/>
              </a:rPr>
              <a:t>// true (снова из animal)</a:t>
            </a:r>
            <a:endParaRPr lang="en-US" sz="1300" dirty="0"/>
          </a:p>
        </p:txBody>
      </p:sp>
      <p:sp>
        <p:nvSpPr>
          <p:cNvPr id="4" name="Shape 2"/>
          <p:cNvSpPr/>
          <p:nvPr/>
        </p:nvSpPr>
        <p:spPr>
          <a:xfrm>
            <a:off x="6446996" y="1547496"/>
            <a:ext cx="4929029" cy="3529330"/>
          </a:xfrm>
          <a:prstGeom prst="roundRect">
            <a:avLst>
              <a:gd name="adj" fmla="val 3508"/>
            </a:avLst>
          </a:prstGeom>
          <a:solidFill>
            <a:srgbClr val="0A0E18"/>
          </a:solidFill>
          <a:ln w="6350">
            <a:solidFill>
              <a:srgbClr val="2E3961"/>
            </a:solidFill>
            <a:prstDash val="solid"/>
          </a:ln>
        </p:spPr>
        <p:txBody>
          <a:bodyPr/>
          <a:lstStyle/>
          <a:p>
            <a:endParaRPr lang="ru-RU"/>
          </a:p>
        </p:txBody>
      </p:sp>
      <p:sp>
        <p:nvSpPr>
          <p:cNvPr id="5" name="Text 3"/>
          <p:cNvSpPr/>
          <p:nvPr/>
        </p:nvSpPr>
        <p:spPr>
          <a:xfrm>
            <a:off x="6702902" y="2462532"/>
            <a:ext cx="454973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B942"/>
                </a:solidFill>
                <a:latin typeface="IBM Plex Sans" pitchFamily="34" charset="0"/>
                <a:ea typeface="IBM Plex Sans" pitchFamily="34" charset="-122"/>
                <a:cs typeface="IBM Plex Sans" pitchFamily="34" charset="-120"/>
              </a:rPr>
              <a:t>ПСЕВДОКОД: ЧТЕНИЕ</a:t>
            </a:r>
            <a:endParaRPr lang="en-US" sz="1200" dirty="0"/>
          </a:p>
        </p:txBody>
      </p:sp>
      <p:sp>
        <p:nvSpPr>
          <p:cNvPr id="6" name="Text 4"/>
          <p:cNvSpPr/>
          <p:nvPr/>
        </p:nvSpPr>
        <p:spPr>
          <a:xfrm>
            <a:off x="6702902" y="2675889"/>
            <a:ext cx="4549735" cy="1511300"/>
          </a:xfrm>
          <a:prstGeom prst="rect">
            <a:avLst/>
          </a:prstGeom>
          <a:noFill/>
          <a:ln/>
        </p:spPr>
        <p:txBody>
          <a:bodyPr wrap="none" lIns="0" tIns="0" rIns="0" bIns="0" rtlCol="0" anchor="t">
            <a:normAutofit/>
          </a:bodyPr>
          <a:lstStyle/>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найти(obj, ключ):</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пока obj не null:</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если ключ есть у obj:</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вернуть значение</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obj ← его прототип</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вернуть undefined</a:t>
            </a:r>
            <a:endParaRPr lang="en-US" sz="1300" dirty="0"/>
          </a:p>
        </p:txBody>
      </p:sp>
      <p:sp>
        <p:nvSpPr>
          <p:cNvPr id="7" name="Text 5"/>
          <p:cNvSpPr/>
          <p:nvPr/>
        </p:nvSpPr>
        <p:spPr>
          <a:xfrm>
            <a:off x="812800" y="5308600"/>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9AA6BF"/>
                </a:solidFill>
                <a:latin typeface="IBM Plex Sans" pitchFamily="34" charset="0"/>
                <a:ea typeface="IBM Plex Sans" pitchFamily="34" charset="-122"/>
                <a:cs typeface="IBM Plex Sans" pitchFamily="34" charset="-120"/>
              </a:rPr>
              <a:t>Своё свойство закрывает одноимённое из прототипа. Это называется затенением. Сам прототип при этом не меняется.</a:t>
            </a:r>
            <a:endParaRPr lang="en-US" sz="1500" dirty="0"/>
          </a:p>
        </p:txBody>
      </p:sp>
      <p:sp>
        <p:nvSpPr>
          <p:cNvPr id="8" name="Text 6"/>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B0"/>
                </a:solidFill>
                <a:latin typeface="IBM Plex Sans" pitchFamily="34" charset="0"/>
                <a:ea typeface="IBM Plex Sans" pitchFamily="34" charset="-122"/>
                <a:cs typeface="IBM Plex Sans" pitchFamily="34" charset="-120"/>
              </a:rPr>
              <a:t>Прототипное наследование в JavaScript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2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5FA"/>
                </a:solidFill>
                <a:latin typeface="IBM Plex Sans" pitchFamily="34" charset="0"/>
                <a:ea typeface="IBM Plex Sans" pitchFamily="34" charset="-122"/>
                <a:cs typeface="IBM Plex Sans" pitchFamily="34" charset="-120"/>
              </a:rPr>
              <a:t>Функции-конструкторы</a:t>
            </a:r>
            <a:endParaRPr lang="en-US" sz="3600" dirty="0"/>
          </a:p>
        </p:txBody>
      </p:sp>
      <p:sp>
        <p:nvSpPr>
          <p:cNvPr id="3" name="Text 1"/>
          <p:cNvSpPr/>
          <p:nvPr/>
        </p:nvSpPr>
        <p:spPr>
          <a:xfrm>
            <a:off x="812800" y="1518921"/>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9AA6BF"/>
                </a:solidFill>
                <a:latin typeface="IBM Plex Sans" pitchFamily="34" charset="0"/>
                <a:ea typeface="IBM Plex Sans" pitchFamily="34" charset="-122"/>
                <a:cs typeface="IBM Plex Sans" pitchFamily="34" charset="-120"/>
              </a:rPr>
              <a:t>Обычная функция, которую вызывают через </a:t>
            </a:r>
            <a:r>
              <a:rPr lang="en-US" sz="1600" b="1" dirty="0">
                <a:solidFill>
                  <a:srgbClr val="F5B942"/>
                </a:solidFill>
                <a:latin typeface="IBM Plex Sans" pitchFamily="34" charset="0"/>
                <a:ea typeface="IBM Plex Sans" pitchFamily="34" charset="-122"/>
                <a:cs typeface="IBM Plex Sans" pitchFamily="34" charset="-120"/>
              </a:rPr>
              <a:t>new</a:t>
            </a:r>
            <a:r>
              <a:rPr lang="en-US" sz="1600" dirty="0">
                <a:solidFill>
                  <a:srgbClr val="9AA6BF"/>
                </a:solidFill>
                <a:latin typeface="IBM Plex Sans" pitchFamily="34" charset="0"/>
                <a:ea typeface="IBM Plex Sans" pitchFamily="34" charset="-122"/>
                <a:cs typeface="IBM Plex Sans" pitchFamily="34" charset="-120"/>
              </a:rPr>
              <a:t>, чтобы создавать однотипные объекты. Имя принято писать с заглавной буквы.</a:t>
            </a:r>
            <a:endParaRPr lang="en-US" sz="1600" dirty="0"/>
          </a:p>
        </p:txBody>
      </p:sp>
      <p:sp>
        <p:nvSpPr>
          <p:cNvPr id="4" name="Text 2"/>
          <p:cNvSpPr/>
          <p:nvPr/>
        </p:nvSpPr>
        <p:spPr>
          <a:xfrm>
            <a:off x="815975" y="2294257"/>
            <a:ext cx="5476954" cy="3544570"/>
          </a:xfrm>
          <a:prstGeom prst="roundRect">
            <a:avLst>
              <a:gd name="adj" fmla="val 3493"/>
            </a:avLst>
          </a:prstGeom>
          <a:solidFill>
            <a:srgbClr val="0A0E18"/>
          </a:solidFill>
          <a:ln w="6350">
            <a:solidFill>
              <a:srgbClr val="2E3961"/>
            </a:solidFill>
            <a:prstDash val="solid"/>
          </a:ln>
        </p:spPr>
        <p:txBody>
          <a:bodyPr wrap="none" lIns="194238" tIns="621590" rIns="43759" bIns="596195" rtlCol="0" anchor="t">
            <a:normAutofit/>
          </a:bodyPr>
          <a:lstStyle/>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function Person(name) {</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this.name = name;</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Person.prototype.hello = function () {</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  return 'Привет, я ' + this.name;</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const anna  = new Person('Аня');</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const boris = new Person('Боря');</a:t>
            </a:r>
            <a:endParaRPr lang="en-US" sz="1300" dirty="0"/>
          </a:p>
        </p:txBody>
      </p:sp>
      <p:sp>
        <p:nvSpPr>
          <p:cNvPr id="5" name="Shape 3"/>
          <p:cNvSpPr/>
          <p:nvPr/>
        </p:nvSpPr>
        <p:spPr>
          <a:xfrm>
            <a:off x="6553280" y="2294257"/>
            <a:ext cx="4822746" cy="3544570"/>
          </a:xfrm>
          <a:prstGeom prst="roundRect">
            <a:avLst>
              <a:gd name="adj" fmla="val 3493"/>
            </a:avLst>
          </a:prstGeom>
          <a:solidFill>
            <a:srgbClr val="1B2340"/>
          </a:solidFill>
          <a:ln w="6350">
            <a:solidFill>
              <a:srgbClr val="2E3961"/>
            </a:solidFill>
            <a:prstDash val="solid"/>
          </a:ln>
        </p:spPr>
        <p:txBody>
          <a:bodyPr/>
          <a:lstStyle/>
          <a:p>
            <a:endParaRPr lang="ru-RU"/>
          </a:p>
        </p:txBody>
      </p:sp>
      <p:sp>
        <p:nvSpPr>
          <p:cNvPr id="6" name="Text 4"/>
          <p:cNvSpPr/>
          <p:nvPr/>
        </p:nvSpPr>
        <p:spPr>
          <a:xfrm>
            <a:off x="6783784" y="2931161"/>
            <a:ext cx="449258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B942"/>
                </a:solidFill>
                <a:latin typeface="IBM Plex Sans" pitchFamily="34" charset="0"/>
                <a:ea typeface="IBM Plex Sans" pitchFamily="34" charset="-122"/>
                <a:cs typeface="IBM Plex Sans" pitchFamily="34" charset="-120"/>
              </a:rPr>
              <a:t>ЧТО ПОЛУЧИЛОСЬ</a:t>
            </a:r>
            <a:endParaRPr lang="en-US" sz="1200" dirty="0"/>
          </a:p>
        </p:txBody>
      </p:sp>
      <p:sp>
        <p:nvSpPr>
          <p:cNvPr id="7" name="Text 5"/>
          <p:cNvSpPr/>
          <p:nvPr/>
        </p:nvSpPr>
        <p:spPr>
          <a:xfrm>
            <a:off x="6783784" y="3144521"/>
            <a:ext cx="4492588" cy="2082800"/>
          </a:xfrm>
          <a:prstGeom prst="rect">
            <a:avLst/>
          </a:prstGeom>
          <a:noFill/>
          <a:ln/>
        </p:spPr>
        <p:txBody>
          <a:bodyPr wrap="none" lIns="0" tIns="0" rIns="0" bIns="0" rtlCol="0" anchor="t">
            <a:normAutofit/>
          </a:bodyPr>
          <a:lstStyle/>
          <a:p>
            <a:pPr marL="0" indent="0" algn="l">
              <a:lnSpc>
                <a:spcPts val="1800"/>
              </a:lnSpc>
              <a:buNone/>
            </a:pPr>
            <a:r>
              <a:rPr lang="en-US" sz="1200" b="1" dirty="0">
                <a:solidFill>
                  <a:srgbClr val="F5B942"/>
                </a:solidFill>
                <a:latin typeface="JetBrains Mono" pitchFamily="49" charset="0"/>
                <a:ea typeface="JetBrains Mono" pitchFamily="49" charset="-122"/>
                <a:cs typeface="JetBrains Mono" pitchFamily="49" charset="-120"/>
              </a:rPr>
              <a:t>anna</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  свои: name: 'Аня'</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  [[Prototype]] → Person.prototype</a:t>
            </a:r>
            <a:endParaRPr lang="en-US" sz="1200" dirty="0"/>
          </a:p>
          <a:p>
            <a:pPr marL="0" indent="0" algn="l">
              <a:lnSpc>
                <a:spcPts val="1800"/>
              </a:lnSpc>
              <a:buNone/>
            </a:pPr>
            <a:r>
              <a:rPr lang="en-US" sz="1200" b="1" dirty="0">
                <a:solidFill>
                  <a:srgbClr val="F5B942"/>
                </a:solidFill>
                <a:latin typeface="JetBrains Mono" pitchFamily="49" charset="0"/>
                <a:ea typeface="JetBrains Mono" pitchFamily="49" charset="-122"/>
                <a:cs typeface="JetBrains Mono" pitchFamily="49" charset="-120"/>
              </a:rPr>
              <a:t>boris</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  свои: name: 'Боря'</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  [[Prototype]] → Person.prototype</a:t>
            </a:r>
            <a:endParaRPr lang="en-US" sz="1200" dirty="0"/>
          </a:p>
          <a:p>
            <a:pPr marL="0" indent="0" algn="l">
              <a:lnSpc>
                <a:spcPts val="1800"/>
              </a:lnSpc>
              <a:buNone/>
            </a:pPr>
            <a:r>
              <a:rPr lang="en-US" sz="1200" b="1" dirty="0">
                <a:solidFill>
                  <a:srgbClr val="F5B942"/>
                </a:solidFill>
                <a:latin typeface="JetBrains Mono" pitchFamily="49" charset="0"/>
                <a:ea typeface="JetBrains Mono" pitchFamily="49" charset="-122"/>
                <a:cs typeface="JetBrains Mono" pitchFamily="49" charset="-120"/>
              </a:rPr>
              <a:t>Person.prototype</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  hello, constructor</a:t>
            </a:r>
            <a:endParaRPr lang="en-US" sz="1200" dirty="0"/>
          </a:p>
          <a:p>
            <a:pPr marL="0" indent="0" algn="l">
              <a:lnSpc>
                <a:spcPts val="1800"/>
              </a:lnSpc>
              <a:buNone/>
            </a:pPr>
            <a:r>
              <a:rPr lang="en-US" sz="1200" dirty="0">
                <a:solidFill>
                  <a:srgbClr val="8BD5A0"/>
                </a:solidFill>
                <a:latin typeface="JetBrains Mono" pitchFamily="49" charset="0"/>
                <a:ea typeface="JetBrains Mono" pitchFamily="49" charset="-122"/>
                <a:cs typeface="JetBrains Mono" pitchFamily="49" charset="-120"/>
              </a:rPr>
              <a:t>anna.hello === boris.hello // true</a:t>
            </a:r>
            <a:endParaRPr lang="en-US" sz="1200" dirty="0"/>
          </a:p>
        </p:txBody>
      </p:sp>
      <p:sp>
        <p:nvSpPr>
          <p:cNvPr id="8" name="Text 6"/>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B0"/>
                </a:solidFill>
                <a:latin typeface="IBM Plex Sans" pitchFamily="34" charset="0"/>
                <a:ea typeface="IBM Plex Sans" pitchFamily="34" charset="-122"/>
                <a:cs typeface="IBM Plex Sans" pitchFamily="34" charset="-120"/>
              </a:rPr>
              <a:t>Прототипное наследование в JavaScript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1B2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5FA"/>
                </a:solidFill>
                <a:latin typeface="IBM Plex Sans" pitchFamily="34" charset="0"/>
                <a:ea typeface="IBM Plex Sans" pitchFamily="34" charset="-122"/>
                <a:cs typeface="IBM Plex Sans" pitchFamily="34" charset="-120"/>
              </a:rPr>
              <a:t>Что делает new Person('Аня')</a:t>
            </a:r>
            <a:endParaRPr lang="en-US" sz="3600" dirty="0"/>
          </a:p>
        </p:txBody>
      </p:sp>
      <p:sp>
        <p:nvSpPr>
          <p:cNvPr id="3" name="Text 1"/>
          <p:cNvSpPr/>
          <p:nvPr/>
        </p:nvSpPr>
        <p:spPr>
          <a:xfrm>
            <a:off x="812800" y="2517139"/>
            <a:ext cx="4803834"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F5B942"/>
                </a:solidFill>
                <a:latin typeface="IBM Plex Sans" pitchFamily="34" charset="0"/>
                <a:ea typeface="IBM Plex Sans" pitchFamily="34" charset="-122"/>
                <a:cs typeface="IBM Plex Sans" pitchFamily="34" charset="-120"/>
              </a:rPr>
              <a:t>1.</a:t>
            </a:r>
            <a:r>
              <a:rPr lang="en-US" sz="1600" dirty="0">
                <a:solidFill>
                  <a:srgbClr val="F3F5FA"/>
                </a:solidFill>
                <a:latin typeface="IBM Plex Sans" pitchFamily="34" charset="0"/>
                <a:ea typeface="IBM Plex Sans" pitchFamily="34" charset="-122"/>
                <a:cs typeface="IBM Plex Sans" pitchFamily="34" charset="-120"/>
              </a:rPr>
              <a:t> Создаёт пустой объект: {}</a:t>
            </a:r>
            <a:endParaRPr lang="en-US" sz="1600" dirty="0"/>
          </a:p>
        </p:txBody>
      </p:sp>
      <p:sp>
        <p:nvSpPr>
          <p:cNvPr id="4" name="Text 2"/>
          <p:cNvSpPr/>
          <p:nvPr/>
        </p:nvSpPr>
        <p:spPr>
          <a:xfrm>
            <a:off x="812800" y="2943861"/>
            <a:ext cx="4803834" cy="57404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F5B942"/>
                </a:solidFill>
                <a:latin typeface="IBM Plex Sans" pitchFamily="34" charset="0"/>
                <a:ea typeface="IBM Plex Sans" pitchFamily="34" charset="-122"/>
                <a:cs typeface="IBM Plex Sans" pitchFamily="34" charset="-120"/>
              </a:rPr>
              <a:t>2.</a:t>
            </a:r>
            <a:r>
              <a:rPr lang="en-US" sz="1600" dirty="0">
                <a:solidFill>
                  <a:srgbClr val="F3F5FA"/>
                </a:solidFill>
                <a:latin typeface="IBM Plex Sans" pitchFamily="34" charset="0"/>
                <a:ea typeface="IBM Plex Sans" pitchFamily="34" charset="-122"/>
                <a:cs typeface="IBM Plex Sans" pitchFamily="34" charset="-120"/>
              </a:rPr>
              <a:t> Ставит ему скрытую ссылку на Person.prototype</a:t>
            </a:r>
            <a:endParaRPr lang="en-US" sz="1600" dirty="0"/>
          </a:p>
        </p:txBody>
      </p:sp>
      <p:sp>
        <p:nvSpPr>
          <p:cNvPr id="5" name="Text 3"/>
          <p:cNvSpPr/>
          <p:nvPr/>
        </p:nvSpPr>
        <p:spPr>
          <a:xfrm>
            <a:off x="812800" y="3644900"/>
            <a:ext cx="4803834" cy="57404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F5B942"/>
                </a:solidFill>
                <a:latin typeface="IBM Plex Sans" pitchFamily="34" charset="0"/>
                <a:ea typeface="IBM Plex Sans" pitchFamily="34" charset="-122"/>
                <a:cs typeface="IBM Plex Sans" pitchFamily="34" charset="-120"/>
              </a:rPr>
              <a:t>3.</a:t>
            </a:r>
            <a:r>
              <a:rPr lang="en-US" sz="1600" dirty="0">
                <a:solidFill>
                  <a:srgbClr val="F3F5FA"/>
                </a:solidFill>
                <a:latin typeface="IBM Plex Sans" pitchFamily="34" charset="0"/>
                <a:ea typeface="IBM Plex Sans" pitchFamily="34" charset="-122"/>
                <a:cs typeface="IBM Plex Sans" pitchFamily="34" charset="-120"/>
              </a:rPr>
              <a:t> Вызывает Person с this = этот объект: так появляется name: 'Аня'</a:t>
            </a:r>
            <a:endParaRPr lang="en-US" sz="1600" dirty="0"/>
          </a:p>
        </p:txBody>
      </p:sp>
      <p:sp>
        <p:nvSpPr>
          <p:cNvPr id="6" name="Text 4"/>
          <p:cNvSpPr/>
          <p:nvPr/>
        </p:nvSpPr>
        <p:spPr>
          <a:xfrm>
            <a:off x="812800" y="4345942"/>
            <a:ext cx="4803834" cy="57404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F5B942"/>
                </a:solidFill>
                <a:latin typeface="IBM Plex Sans" pitchFamily="34" charset="0"/>
                <a:ea typeface="IBM Plex Sans" pitchFamily="34" charset="-122"/>
                <a:cs typeface="IBM Plex Sans" pitchFamily="34" charset="-120"/>
              </a:rPr>
              <a:t>4.</a:t>
            </a:r>
            <a:r>
              <a:rPr lang="en-US" sz="1600" dirty="0">
                <a:solidFill>
                  <a:srgbClr val="F3F5FA"/>
                </a:solidFill>
                <a:latin typeface="IBM Plex Sans" pitchFamily="34" charset="0"/>
                <a:ea typeface="IBM Plex Sans" pitchFamily="34" charset="-122"/>
                <a:cs typeface="IBM Plex Sans" pitchFamily="34" charset="-120"/>
              </a:rPr>
              <a:t> Возвращает объект (если Person не вернула другой объект)</a:t>
            </a:r>
            <a:endParaRPr lang="en-US" sz="1600" dirty="0"/>
          </a:p>
        </p:txBody>
      </p:sp>
      <p:sp>
        <p:nvSpPr>
          <p:cNvPr id="7" name="Shape 5"/>
          <p:cNvSpPr/>
          <p:nvPr/>
        </p:nvSpPr>
        <p:spPr>
          <a:xfrm>
            <a:off x="5733891" y="1572896"/>
            <a:ext cx="5642134" cy="4265930"/>
          </a:xfrm>
          <a:prstGeom prst="roundRect">
            <a:avLst>
              <a:gd name="adj" fmla="val 2903"/>
            </a:avLst>
          </a:prstGeom>
          <a:solidFill>
            <a:srgbClr val="0A0E18"/>
          </a:solidFill>
          <a:ln w="6350">
            <a:solidFill>
              <a:srgbClr val="2E3961"/>
            </a:solidFill>
            <a:prstDash val="solid"/>
          </a:ln>
        </p:spPr>
        <p:txBody>
          <a:bodyPr/>
          <a:lstStyle/>
          <a:p>
            <a:endParaRPr lang="ru-RU"/>
          </a:p>
        </p:txBody>
      </p:sp>
      <p:sp>
        <p:nvSpPr>
          <p:cNvPr id="8" name="Text 6"/>
          <p:cNvSpPr/>
          <p:nvPr/>
        </p:nvSpPr>
        <p:spPr>
          <a:xfrm>
            <a:off x="5989796" y="2831464"/>
            <a:ext cx="528423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B942"/>
                </a:solidFill>
                <a:latin typeface="IBM Plex Sans" pitchFamily="34" charset="0"/>
                <a:ea typeface="IBM Plex Sans" pitchFamily="34" charset="-122"/>
                <a:cs typeface="IBM Plex Sans" pitchFamily="34" charset="-120"/>
              </a:rPr>
              <a:t>ПСЕВДОКОД: new F(...args)</a:t>
            </a:r>
            <a:endParaRPr lang="en-US" sz="1200" dirty="0"/>
          </a:p>
        </p:txBody>
      </p:sp>
      <p:sp>
        <p:nvSpPr>
          <p:cNvPr id="9" name="Text 7"/>
          <p:cNvSpPr/>
          <p:nvPr/>
        </p:nvSpPr>
        <p:spPr>
          <a:xfrm>
            <a:off x="5989796" y="3044825"/>
            <a:ext cx="5284233" cy="1560830"/>
          </a:xfrm>
          <a:prstGeom prst="rect">
            <a:avLst/>
          </a:prstGeom>
          <a:noFill/>
          <a:ln/>
        </p:spPr>
        <p:txBody>
          <a:bodyPr wrap="none" lIns="0" tIns="0" rIns="0" bIns="0" rtlCol="0" anchor="t">
            <a:normAutofit/>
          </a:bodyPr>
          <a:lstStyle/>
          <a:p>
            <a:pPr marL="0" indent="0" algn="l">
              <a:lnSpc>
                <a:spcPts val="2015"/>
              </a:lnSpc>
              <a:buNone/>
            </a:pPr>
            <a:r>
              <a:rPr lang="en-US" sz="1300" dirty="0">
                <a:solidFill>
                  <a:srgbClr val="D7DEEE"/>
                </a:solidFill>
                <a:latin typeface="JetBrains Mono" pitchFamily="49" charset="0"/>
                <a:ea typeface="JetBrains Mono" pitchFamily="49" charset="-122"/>
                <a:cs typeface="JetBrains Mono" pitchFamily="49" charset="-120"/>
              </a:rPr>
              <a:t>function myNew(F, ...args) {</a:t>
            </a:r>
            <a:endParaRPr lang="en-US" sz="1300" dirty="0"/>
          </a:p>
          <a:p>
            <a:pPr marL="0" indent="0" algn="l">
              <a:lnSpc>
                <a:spcPts val="2015"/>
              </a:lnSpc>
              <a:buNone/>
            </a:pPr>
            <a:r>
              <a:rPr lang="en-US" sz="1300" dirty="0">
                <a:solidFill>
                  <a:srgbClr val="D7DEEE"/>
                </a:solidFill>
                <a:latin typeface="JetBrains Mono" pitchFamily="49" charset="0"/>
                <a:ea typeface="JetBrains Mono" pitchFamily="49" charset="-122"/>
                <a:cs typeface="JetBrains Mono" pitchFamily="49" charset="-120"/>
              </a:rPr>
              <a:t>  const obj = Object.create(F.prototype);</a:t>
            </a:r>
            <a:endParaRPr lang="en-US" sz="1300" dirty="0"/>
          </a:p>
          <a:p>
            <a:pPr marL="0" indent="0" algn="l">
              <a:lnSpc>
                <a:spcPts val="2015"/>
              </a:lnSpc>
              <a:buNone/>
            </a:pPr>
            <a:r>
              <a:rPr lang="en-US" sz="1300" dirty="0">
                <a:solidFill>
                  <a:srgbClr val="D7DEEE"/>
                </a:solidFill>
                <a:latin typeface="JetBrains Mono" pitchFamily="49" charset="0"/>
                <a:ea typeface="JetBrains Mono" pitchFamily="49" charset="-122"/>
                <a:cs typeface="JetBrains Mono" pitchFamily="49" charset="-120"/>
              </a:rPr>
              <a:t>  const res = F.apply(obj, args);</a:t>
            </a:r>
            <a:endParaRPr lang="en-US" sz="1300" dirty="0"/>
          </a:p>
          <a:p>
            <a:pPr marL="0" indent="0" algn="l">
              <a:lnSpc>
                <a:spcPts val="2015"/>
              </a:lnSpc>
              <a:buNone/>
            </a:pPr>
            <a:r>
              <a:rPr lang="en-US" sz="1300" dirty="0">
                <a:solidFill>
                  <a:srgbClr val="D7DEEE"/>
                </a:solidFill>
                <a:latin typeface="JetBrains Mono" pitchFamily="49" charset="0"/>
                <a:ea typeface="JetBrains Mono" pitchFamily="49" charset="-122"/>
                <a:cs typeface="JetBrains Mono" pitchFamily="49" charset="-120"/>
              </a:rPr>
              <a:t>  return typeof res === 'object' &amp;&amp; res !== null</a:t>
            </a:r>
            <a:endParaRPr lang="en-US" sz="1300" dirty="0"/>
          </a:p>
          <a:p>
            <a:pPr marL="0" indent="0" algn="l">
              <a:lnSpc>
                <a:spcPts val="2015"/>
              </a:lnSpc>
              <a:buNone/>
            </a:pPr>
            <a:r>
              <a:rPr lang="en-US" sz="1300" dirty="0">
                <a:solidFill>
                  <a:srgbClr val="D7DEEE"/>
                </a:solidFill>
                <a:latin typeface="JetBrains Mono" pitchFamily="49" charset="0"/>
                <a:ea typeface="JetBrains Mono" pitchFamily="49" charset="-122"/>
                <a:cs typeface="JetBrains Mono" pitchFamily="49" charset="-120"/>
              </a:rPr>
              <a:t>    ? res : obj;</a:t>
            </a:r>
            <a:endParaRPr lang="en-US" sz="1300" dirty="0"/>
          </a:p>
          <a:p>
            <a:pPr marL="0" indent="0" algn="l">
              <a:lnSpc>
                <a:spcPts val="2015"/>
              </a:lnSpc>
              <a:buNone/>
            </a:pPr>
            <a:r>
              <a:rPr lang="en-US" sz="1300" dirty="0">
                <a:solidFill>
                  <a:srgbClr val="D7DEEE"/>
                </a:solidFill>
                <a:latin typeface="JetBrains Mono" pitchFamily="49" charset="0"/>
                <a:ea typeface="JetBrains Mono" pitchFamily="49" charset="-122"/>
                <a:cs typeface="JetBrains Mono" pitchFamily="49" charset="-120"/>
              </a:rPr>
              <a:t>}</a:t>
            </a:r>
            <a:endParaRPr lang="en-US" sz="1300" dirty="0"/>
          </a:p>
        </p:txBody>
      </p:sp>
      <p:sp>
        <p:nvSpPr>
          <p:cNvPr id="10" name="Text 8"/>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B0"/>
                </a:solidFill>
                <a:latin typeface="IBM Plex Sans" pitchFamily="34" charset="0"/>
                <a:ea typeface="IBM Plex Sans" pitchFamily="34" charset="-122"/>
                <a:cs typeface="IBM Plex Sans" pitchFamily="34" charset="-120"/>
              </a:rPr>
              <a:t>Прототипное наследование в JavaScript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2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5FA"/>
                </a:solidFill>
                <a:latin typeface="IBM Plex Sans" pitchFamily="34" charset="0"/>
                <a:ea typeface="IBM Plex Sans" pitchFamily="34" charset="-122"/>
                <a:cs typeface="IBM Plex Sans" pitchFamily="34" charset="-120"/>
              </a:rPr>
              <a:t>__proto__ и prototype</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29081"/>
          <a:ext cx="10556240" cy="1534160"/>
        </p:xfrm>
        <a:graphic>
          <a:graphicData uri="http://schemas.openxmlformats.org/drawingml/2006/table">
            <a:tbl>
              <a:tblPr/>
              <a:tblGrid>
                <a:gridCol w="2111248">
                  <a:extLst>
                    <a:ext uri="{9D8B030D-6E8A-4147-A177-3AD203B41FA5}">
                      <a16:colId xmlns:a16="http://schemas.microsoft.com/office/drawing/2014/main" val="20000"/>
                    </a:ext>
                  </a:extLst>
                </a:gridCol>
                <a:gridCol w="4222496">
                  <a:extLst>
                    <a:ext uri="{9D8B030D-6E8A-4147-A177-3AD203B41FA5}">
                      <a16:colId xmlns:a16="http://schemas.microsoft.com/office/drawing/2014/main" val="20001"/>
                    </a:ext>
                  </a:extLst>
                </a:gridCol>
                <a:gridCol w="4222496">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9AA6BF"/>
                          </a:solidFill>
                          <a:latin typeface="IBM Plex Sans" pitchFamily="34" charset="0"/>
                          <a:ea typeface="IBM Plex Sans" pitchFamily="34" charset="-122"/>
                          <a:cs typeface="IBM Plex Sans" pitchFamily="34" charset="-120"/>
                        </a:rPr>
                        <a:t>Сравнение</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4F"/>
                      </a:solidFill>
                      <a:prstDash val="solid"/>
                      <a:round/>
                      <a:headEnd type="none" w="med" len="med"/>
                      <a:tailEnd type="none" w="med" len="med"/>
                    </a:lnL>
                    <a:lnR w="12700" cap="flat" cmpd="sng" algn="ctr">
                      <a:solidFill>
                        <a:srgbClr val="52545C"/>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52545C"/>
                      </a:solidFill>
                      <a:prstDash val="solid"/>
                      <a:round/>
                      <a:headEnd type="none" w="med" len="med"/>
                      <a:tailEnd type="none" w="med" len="med"/>
                    </a:lnB>
                    <a:solidFill>
                      <a:srgbClr val="222631"/>
                    </a:solidFill>
                  </a:tcPr>
                </a:tc>
                <a:tc>
                  <a:txBody>
                    <a:bodyPr/>
                    <a:lstStyle/>
                    <a:p>
                      <a:pPr marL="0" indent="0">
                        <a:lnSpc>
                          <a:spcPts val="1960"/>
                        </a:lnSpc>
                        <a:buNone/>
                      </a:pPr>
                      <a:r>
                        <a:rPr lang="en-US" sz="1400" b="1" dirty="0">
                          <a:solidFill>
                            <a:srgbClr val="F5B942"/>
                          </a:solidFill>
                          <a:latin typeface="IBM Plex Sans" pitchFamily="34" charset="0"/>
                          <a:ea typeface="IBM Plex Sans" pitchFamily="34" charset="-122"/>
                          <a:cs typeface="IBM Plex Sans" pitchFamily="34" charset="-120"/>
                        </a:rPr>
                        <a:t>__proto__</a:t>
                      </a:r>
                      <a:endParaRPr lang="en-US" sz="1400" dirty="0">
                        <a:latin typeface="IBM Plex Sans" charset="0"/>
                        <a:ea typeface="IBM Plex Sans" charset="0"/>
                        <a:cs typeface="IBM Plex Sans" charset="0"/>
                      </a:endParaRPr>
                    </a:p>
                  </a:txBody>
                  <a:tcPr marL="62230" marR="62230" marT="62230" marB="62230">
                    <a:lnL w="12700" cap="flat" cmpd="sng" algn="ctr">
                      <a:solidFill>
                        <a:srgbClr val="52545C"/>
                      </a:solidFill>
                      <a:prstDash val="solid"/>
                      <a:round/>
                      <a:headEnd type="none" w="med" len="med"/>
                      <a:tailEnd type="none" w="med" len="med"/>
                    </a:lnL>
                    <a:lnR w="12700" cap="flat" cmpd="sng" algn="ctr">
                      <a:solidFill>
                        <a:srgbClr val="52545C"/>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52545C"/>
                      </a:solidFill>
                      <a:prstDash val="solid"/>
                      <a:round/>
                      <a:headEnd type="none" w="med" len="med"/>
                      <a:tailEnd type="none" w="med" len="med"/>
                    </a:lnB>
                    <a:solidFill>
                      <a:srgbClr val="222631"/>
                    </a:solidFill>
                  </a:tcPr>
                </a:tc>
                <a:tc>
                  <a:txBody>
                    <a:bodyPr/>
                    <a:lstStyle/>
                    <a:p>
                      <a:pPr marL="0" indent="0">
                        <a:lnSpc>
                          <a:spcPts val="1960"/>
                        </a:lnSpc>
                        <a:buNone/>
                      </a:pPr>
                      <a:r>
                        <a:rPr lang="en-US" sz="1400" b="1" dirty="0">
                          <a:solidFill>
                            <a:srgbClr val="F5B942"/>
                          </a:solidFill>
                          <a:latin typeface="IBM Plex Sans" pitchFamily="34" charset="0"/>
                          <a:ea typeface="IBM Plex Sans" pitchFamily="34" charset="-122"/>
                          <a:cs typeface="IBM Plex Sans" pitchFamily="34" charset="-120"/>
                        </a:rPr>
                        <a:t>prototype</a:t>
                      </a:r>
                      <a:endParaRPr lang="en-US" sz="1400" dirty="0">
                        <a:latin typeface="IBM Plex Sans" charset="0"/>
                        <a:ea typeface="IBM Plex Sans" charset="0"/>
                        <a:cs typeface="IBM Plex Sans" charset="0"/>
                      </a:endParaRPr>
                    </a:p>
                  </a:txBody>
                  <a:tcPr marL="62230" marR="62230" marT="62230" marB="62230">
                    <a:lnL w="12700" cap="flat" cmpd="sng" algn="ctr">
                      <a:solidFill>
                        <a:srgbClr val="52545C"/>
                      </a:solidFill>
                      <a:prstDash val="solid"/>
                      <a:round/>
                      <a:headEnd type="none" w="med" len="med"/>
                      <a:tailEnd type="none" w="med" len="med"/>
                    </a:lnL>
                    <a:lnR w="12700" cap="flat" cmpd="sng" algn="ctr">
                      <a:solidFill>
                        <a:srgbClr val="52545C"/>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52545C"/>
                      </a:solidFill>
                      <a:prstDash val="solid"/>
                      <a:round/>
                      <a:headEnd type="none" w="med" len="med"/>
                      <a:tailEnd type="none" w="med" len="med"/>
                    </a:lnB>
                    <a:solidFill>
                      <a:srgbClr val="222631"/>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9AA6BF"/>
                          </a:solidFill>
                          <a:latin typeface="IBM Plex Sans" pitchFamily="34" charset="0"/>
                          <a:ea typeface="IBM Plex Sans" pitchFamily="34" charset="-122"/>
                          <a:cs typeface="IBM Plex Sans" pitchFamily="34" charset="-120"/>
                        </a:rPr>
                        <a:t>Есть у</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52545C"/>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любого объекта (и у anna, и у Person)</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52545C"/>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только у функций (у anna его нет)</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52545C"/>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9AA6BF"/>
                          </a:solidFill>
                          <a:latin typeface="IBM Plex Sans" pitchFamily="34" charset="0"/>
                          <a:ea typeface="IBM Plex Sans" pitchFamily="34" charset="-122"/>
                          <a:cs typeface="IBM Plex Sans" pitchFamily="34" charset="-120"/>
                        </a:rPr>
                        <a:t>Что это</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ссылка на прототип: «кто мой родитель»</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заготовка для new: «что отдать детям»</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9AA6BF"/>
                          </a:solidFill>
                          <a:latin typeface="IBM Plex Sans" pitchFamily="34" charset="0"/>
                          <a:ea typeface="IBM Plex Sans" pitchFamily="34" charset="-122"/>
                          <a:cs typeface="IBM Plex Sans" pitchFamily="34" charset="-120"/>
                        </a:rPr>
                        <a:t>Кто использует</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движок, когда ищет свойство</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оператор new, один раз при создании</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p:nvPr/>
        </p:nvSpPr>
        <p:spPr>
          <a:xfrm>
            <a:off x="815975" y="3269617"/>
            <a:ext cx="10560050" cy="1794510"/>
          </a:xfrm>
          <a:prstGeom prst="roundRect">
            <a:avLst>
              <a:gd name="adj" fmla="val 6900"/>
            </a:avLst>
          </a:prstGeom>
          <a:solidFill>
            <a:srgbClr val="0A0E18"/>
          </a:solidFill>
          <a:ln w="6350">
            <a:solidFill>
              <a:srgbClr val="2E3961"/>
            </a:solidFill>
            <a:prstDash val="solid"/>
          </a:ln>
        </p:spPr>
        <p:txBody>
          <a:bodyPr wrap="none" lIns="219638" tIns="118038" rIns="0" bIns="92638" rtlCol="0" anchor="t">
            <a:normAutofit/>
          </a:bodyPr>
          <a:lstStyle/>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anna.__proto__ === Person.prototype</a:t>
            </a:r>
            <a:endParaRPr lang="en-US" sz="1300" dirty="0"/>
          </a:p>
          <a:p>
            <a:pPr marL="0" indent="0" algn="l">
              <a:lnSpc>
                <a:spcPts val="1950"/>
              </a:lnSpc>
              <a:buNone/>
            </a:pPr>
            <a:r>
              <a:rPr lang="en-US" sz="1300" dirty="0">
                <a:solidFill>
                  <a:srgbClr val="8BD5A0"/>
                </a:solidFill>
                <a:latin typeface="JetBrains Mono" pitchFamily="49" charset="0"/>
                <a:ea typeface="JetBrains Mono" pitchFamily="49" charset="-122"/>
                <a:cs typeface="JetBrains Mono" pitchFamily="49" charset="-120"/>
              </a:rPr>
              <a:t>// true</a:t>
            </a:r>
            <a:r>
              <a:rPr lang="en-US" sz="1300" dirty="0">
                <a:solidFill>
                  <a:srgbClr val="D7DEEE"/>
                </a:solidFill>
                <a:latin typeface="JetBrains Mono" pitchFamily="49" charset="0"/>
                <a:ea typeface="JetBrains Mono" pitchFamily="49" charset="-122"/>
                <a:cs typeface="JetBrains Mono" pitchFamily="49" charset="-120"/>
              </a:rPr>
              <a:t>  ссылка anna ведёт на заготовку Person</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Person.prototype.constructor === Person</a:t>
            </a:r>
            <a:endParaRPr lang="en-US" sz="1300" dirty="0"/>
          </a:p>
          <a:p>
            <a:pPr marL="0" indent="0" algn="l">
              <a:lnSpc>
                <a:spcPts val="1950"/>
              </a:lnSpc>
              <a:buNone/>
            </a:pPr>
            <a:r>
              <a:rPr lang="en-US" sz="1300" dirty="0">
                <a:solidFill>
                  <a:srgbClr val="8BD5A0"/>
                </a:solidFill>
                <a:latin typeface="JetBrains Mono" pitchFamily="49" charset="0"/>
                <a:ea typeface="JetBrains Mono" pitchFamily="49" charset="-122"/>
                <a:cs typeface="JetBrains Mono" pitchFamily="49" charset="-120"/>
              </a:rPr>
              <a:t>// true</a:t>
            </a:r>
            <a:r>
              <a:rPr lang="en-US" sz="1300" dirty="0">
                <a:solidFill>
                  <a:srgbClr val="D7DEEE"/>
                </a:solidFill>
                <a:latin typeface="JetBrains Mono" pitchFamily="49" charset="0"/>
                <a:ea typeface="JetBrains Mono" pitchFamily="49" charset="-122"/>
                <a:cs typeface="JetBrains Mono" pitchFamily="49" charset="-120"/>
              </a:rPr>
              <a:t>  заготовка помнит свою функцию</a:t>
            </a:r>
            <a:endParaRPr lang="en-US" sz="1300" dirty="0"/>
          </a:p>
          <a:p>
            <a:pPr marL="0" indent="0" algn="l">
              <a:lnSpc>
                <a:spcPts val="1950"/>
              </a:lnSpc>
              <a:buNone/>
            </a:pPr>
            <a:r>
              <a:rPr lang="en-US" sz="1300" dirty="0">
                <a:solidFill>
                  <a:srgbClr val="D7DEEE"/>
                </a:solidFill>
                <a:latin typeface="JetBrains Mono" pitchFamily="49" charset="0"/>
                <a:ea typeface="JetBrains Mono" pitchFamily="49" charset="-122"/>
                <a:cs typeface="JetBrains Mono" pitchFamily="49" charset="-120"/>
              </a:rPr>
              <a:t>anna.prototype</a:t>
            </a:r>
            <a:endParaRPr lang="en-US" sz="1300" dirty="0"/>
          </a:p>
          <a:p>
            <a:pPr marL="0" indent="0" algn="l">
              <a:lnSpc>
                <a:spcPts val="1950"/>
              </a:lnSpc>
              <a:buNone/>
            </a:pPr>
            <a:r>
              <a:rPr lang="en-US" sz="1300" dirty="0">
                <a:solidFill>
                  <a:srgbClr val="F08A8A"/>
                </a:solidFill>
                <a:latin typeface="JetBrains Mono" pitchFamily="49" charset="0"/>
                <a:ea typeface="JetBrains Mono" pitchFamily="49" charset="-122"/>
                <a:cs typeface="JetBrains Mono" pitchFamily="49" charset="-120"/>
              </a:rPr>
              <a:t>// undefined</a:t>
            </a:r>
            <a:r>
              <a:rPr lang="en-US" sz="1300" dirty="0">
                <a:solidFill>
                  <a:srgbClr val="D7DEEE"/>
                </a:solidFill>
                <a:latin typeface="JetBrains Mono" pitchFamily="49" charset="0"/>
                <a:ea typeface="JetBrains Mono" pitchFamily="49" charset="-122"/>
                <a:cs typeface="JetBrains Mono" pitchFamily="49" charset="-120"/>
              </a:rPr>
              <a:t>  у обычных объектов prototype нет</a:t>
            </a:r>
            <a:endParaRPr lang="en-US" sz="1300" dirty="0"/>
          </a:p>
        </p:txBody>
      </p:sp>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B0"/>
                </a:solidFill>
                <a:latin typeface="IBM Plex Sans" pitchFamily="34" charset="0"/>
                <a:ea typeface="IBM Plex Sans" pitchFamily="34" charset="-122"/>
                <a:cs typeface="IBM Plex Sans" pitchFamily="34" charset="-120"/>
              </a:rPr>
              <a:t>Прототипное наследование в JavaScript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B2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5FA"/>
                </a:solidFill>
                <a:latin typeface="IBM Plex Sans" pitchFamily="34" charset="0"/>
                <a:ea typeface="IBM Plex Sans" pitchFamily="34" charset="-122"/>
                <a:cs typeface="IBM Plex Sans" pitchFamily="34" charset="-120"/>
              </a:rPr>
              <a:t>Как было: наследование в ES5</a:t>
            </a:r>
            <a:endParaRPr lang="en-US" sz="3600" dirty="0"/>
          </a:p>
        </p:txBody>
      </p:sp>
      <p:sp>
        <p:nvSpPr>
          <p:cNvPr id="3" name="Text 1"/>
          <p:cNvSpPr/>
          <p:nvPr/>
        </p:nvSpPr>
        <p:spPr>
          <a:xfrm>
            <a:off x="815975" y="1522096"/>
            <a:ext cx="5670867" cy="4316730"/>
          </a:xfrm>
          <a:prstGeom prst="roundRect">
            <a:avLst>
              <a:gd name="adj" fmla="val 2868"/>
            </a:avLst>
          </a:prstGeom>
          <a:solidFill>
            <a:srgbClr val="0A0E18"/>
          </a:solidFill>
          <a:ln w="6350">
            <a:solidFill>
              <a:srgbClr val="2E3961"/>
            </a:solidFill>
            <a:prstDash val="solid"/>
          </a:ln>
        </p:spPr>
        <p:txBody>
          <a:bodyPr wrap="none" lIns="194238" tIns="407600" rIns="37942" bIns="382195" rtlCol="0" anchor="t">
            <a:normAutofit/>
          </a:bodyPr>
          <a:lstStyle/>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function Animal(name) { this.name = name; }</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Animal.prototype.speak = function () {</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  return this.name + ' издаёт звук';</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function Dog(name) {</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  </a:t>
            </a:r>
            <a:r>
              <a:rPr lang="en-US" sz="1200" dirty="0">
                <a:solidFill>
                  <a:srgbClr val="F5B942"/>
                </a:solidFill>
                <a:latin typeface="JetBrains Mono" pitchFamily="49" charset="0"/>
                <a:ea typeface="JetBrains Mono" pitchFamily="49" charset="-122"/>
                <a:cs typeface="JetBrains Mono" pitchFamily="49" charset="-120"/>
              </a:rPr>
              <a:t>Animal.call(this, name);</a:t>
            </a:r>
            <a:r>
              <a:rPr lang="en-US" sz="1200" dirty="0">
                <a:solidFill>
                  <a:srgbClr val="D7DEEE"/>
                </a:solidFill>
                <a:latin typeface="JetBrains Mono" pitchFamily="49" charset="0"/>
                <a:ea typeface="JetBrains Mono" pitchFamily="49" charset="-122"/>
                <a:cs typeface="JetBrains Mono" pitchFamily="49" charset="-120"/>
              </a:rPr>
              <a:t>  </a:t>
            </a:r>
            <a:r>
              <a:rPr lang="en-US" sz="1200" dirty="0">
                <a:solidFill>
                  <a:srgbClr val="7C89A8"/>
                </a:solidFill>
                <a:latin typeface="JetBrains Mono" pitchFamily="49" charset="0"/>
                <a:ea typeface="JetBrains Mono" pitchFamily="49" charset="-122"/>
                <a:cs typeface="JetBrains Mono" pitchFamily="49" charset="-120"/>
              </a:rPr>
              <a:t>// шаг 1</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5B942"/>
                </a:solidFill>
                <a:latin typeface="JetBrains Mono" pitchFamily="49" charset="0"/>
                <a:ea typeface="JetBrains Mono" pitchFamily="49" charset="-122"/>
                <a:cs typeface="JetBrains Mono" pitchFamily="49" charset="-120"/>
              </a:rPr>
              <a:t>Dog.prototype = Object.create(Animal.prototype);</a:t>
            </a:r>
            <a:r>
              <a:rPr lang="en-US" sz="1200" dirty="0">
                <a:solidFill>
                  <a:srgbClr val="7C89A8"/>
                </a:solidFill>
                <a:latin typeface="JetBrains Mono" pitchFamily="49" charset="0"/>
                <a:ea typeface="JetBrains Mono" pitchFamily="49" charset="-122"/>
                <a:cs typeface="JetBrains Mono" pitchFamily="49" charset="-120"/>
              </a:rPr>
              <a:t> // 2</a:t>
            </a:r>
            <a:endParaRPr lang="en-US" sz="1200" dirty="0"/>
          </a:p>
          <a:p>
            <a:pPr marL="0" indent="0" algn="l">
              <a:lnSpc>
                <a:spcPts val="1800"/>
              </a:lnSpc>
              <a:buNone/>
            </a:pPr>
            <a:r>
              <a:rPr lang="en-US" sz="1200" dirty="0">
                <a:solidFill>
                  <a:srgbClr val="F5B942"/>
                </a:solidFill>
                <a:latin typeface="JetBrains Mono" pitchFamily="49" charset="0"/>
                <a:ea typeface="JetBrains Mono" pitchFamily="49" charset="-122"/>
                <a:cs typeface="JetBrains Mono" pitchFamily="49" charset="-120"/>
              </a:rPr>
              <a:t>Dog.prototype.constructor = Dog;</a:t>
            </a:r>
            <a:r>
              <a:rPr lang="en-US" sz="1200" dirty="0">
                <a:solidFill>
                  <a:srgbClr val="7C89A8"/>
                </a:solidFill>
                <a:latin typeface="JetBrains Mono" pitchFamily="49" charset="0"/>
                <a:ea typeface="JetBrains Mono" pitchFamily="49" charset="-122"/>
                <a:cs typeface="JetBrains Mono" pitchFamily="49" charset="-120"/>
              </a:rPr>
              <a:t> // 3</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Dog.prototype.speak = function () {</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  </a:t>
            </a:r>
            <a:r>
              <a:rPr lang="en-US" sz="1200" dirty="0">
                <a:solidFill>
                  <a:srgbClr val="F5B942"/>
                </a:solidFill>
                <a:latin typeface="JetBrains Mono" pitchFamily="49" charset="0"/>
                <a:ea typeface="JetBrains Mono" pitchFamily="49" charset="-122"/>
                <a:cs typeface="JetBrains Mono" pitchFamily="49" charset="-120"/>
              </a:rPr>
              <a:t>return Animal.prototype.speak.call(this)</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    + ': гав'; </a:t>
            </a:r>
            <a:r>
              <a:rPr lang="en-US" sz="1200" dirty="0">
                <a:solidFill>
                  <a:srgbClr val="7C89A8"/>
                </a:solidFill>
                <a:latin typeface="JetBrains Mono" pitchFamily="49" charset="0"/>
                <a:ea typeface="JetBrains Mono" pitchFamily="49" charset="-122"/>
                <a:cs typeface="JetBrains Mono" pitchFamily="49" charset="-120"/>
              </a:rPr>
              <a:t>// шаг 4</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const rex = new Dog('Рекс');</a:t>
            </a:r>
            <a:endParaRPr lang="en-US" sz="1200" dirty="0"/>
          </a:p>
        </p:txBody>
      </p:sp>
      <p:sp>
        <p:nvSpPr>
          <p:cNvPr id="4" name="Shape 2"/>
          <p:cNvSpPr/>
          <p:nvPr/>
        </p:nvSpPr>
        <p:spPr>
          <a:xfrm>
            <a:off x="6747193" y="1522096"/>
            <a:ext cx="4628833" cy="4316730"/>
          </a:xfrm>
          <a:prstGeom prst="roundRect">
            <a:avLst>
              <a:gd name="adj" fmla="val 2868"/>
            </a:avLst>
          </a:prstGeom>
          <a:solidFill>
            <a:srgbClr val="1B2340"/>
          </a:solidFill>
          <a:ln w="6350">
            <a:solidFill>
              <a:srgbClr val="2E3961"/>
            </a:solidFill>
            <a:prstDash val="solid"/>
          </a:ln>
        </p:spPr>
        <p:txBody>
          <a:bodyPr/>
          <a:lstStyle/>
          <a:p>
            <a:endParaRPr lang="ru-RU"/>
          </a:p>
        </p:txBody>
      </p:sp>
      <p:sp>
        <p:nvSpPr>
          <p:cNvPr id="5" name="Text 3"/>
          <p:cNvSpPr/>
          <p:nvPr/>
        </p:nvSpPr>
        <p:spPr>
          <a:xfrm>
            <a:off x="6977697" y="2446021"/>
            <a:ext cx="429285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B942"/>
                </a:solidFill>
                <a:latin typeface="IBM Plex Sans" pitchFamily="34" charset="0"/>
                <a:ea typeface="IBM Plex Sans" pitchFamily="34" charset="-122"/>
                <a:cs typeface="IBM Plex Sans" pitchFamily="34" charset="-120"/>
              </a:rPr>
              <a:t>ЧЕТЫРЕ РУЧНЫХ ШАГА</a:t>
            </a:r>
            <a:endParaRPr lang="en-US" sz="1200" dirty="0"/>
          </a:p>
        </p:txBody>
      </p:sp>
      <p:sp>
        <p:nvSpPr>
          <p:cNvPr id="6" name="Text 4"/>
          <p:cNvSpPr/>
          <p:nvPr/>
        </p:nvSpPr>
        <p:spPr>
          <a:xfrm>
            <a:off x="6977697" y="2760979"/>
            <a:ext cx="4292857" cy="7188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B942"/>
                </a:solidFill>
                <a:latin typeface="IBM Plex Sans" pitchFamily="34" charset="0"/>
                <a:ea typeface="IBM Plex Sans" pitchFamily="34" charset="-122"/>
                <a:cs typeface="IBM Plex Sans" pitchFamily="34" charset="-120"/>
              </a:rPr>
              <a:t>1.</a:t>
            </a:r>
            <a:r>
              <a:rPr lang="en-US" sz="1300" dirty="0">
                <a:solidFill>
                  <a:srgbClr val="E8ECF4"/>
                </a:solidFill>
                <a:latin typeface="IBM Plex Sans" pitchFamily="34" charset="0"/>
                <a:ea typeface="IBM Plex Sans" pitchFamily="34" charset="-122"/>
                <a:cs typeface="IBM Plex Sans" pitchFamily="34" charset="-120"/>
              </a:rPr>
              <a:t> Animal.call(this, name): запустить родительский конструктор на нашем объекте, чтобы появилось name</a:t>
            </a:r>
            <a:endParaRPr lang="en-US" sz="1300" dirty="0"/>
          </a:p>
        </p:txBody>
      </p:sp>
      <p:sp>
        <p:nvSpPr>
          <p:cNvPr id="7" name="Text 5"/>
          <p:cNvSpPr/>
          <p:nvPr/>
        </p:nvSpPr>
        <p:spPr>
          <a:xfrm>
            <a:off x="6977697" y="3556000"/>
            <a:ext cx="4292857"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B942"/>
                </a:solidFill>
                <a:latin typeface="IBM Plex Sans" pitchFamily="34" charset="0"/>
                <a:ea typeface="IBM Plex Sans" pitchFamily="34" charset="-122"/>
                <a:cs typeface="IBM Plex Sans" pitchFamily="34" charset="-120"/>
              </a:rPr>
              <a:t>2.</a:t>
            </a:r>
            <a:r>
              <a:rPr lang="en-US" sz="1300" dirty="0">
                <a:solidFill>
                  <a:srgbClr val="E8ECF4"/>
                </a:solidFill>
                <a:latin typeface="IBM Plex Sans" pitchFamily="34" charset="0"/>
                <a:ea typeface="IBM Plex Sans" pitchFamily="34" charset="-122"/>
                <a:cs typeface="IBM Plex Sans" pitchFamily="34" charset="-120"/>
              </a:rPr>
              <a:t> Object.create: новая заготовка Dog.prototype ссылается на Animal.prototype</a:t>
            </a:r>
            <a:endParaRPr lang="en-US" sz="1300" dirty="0"/>
          </a:p>
        </p:txBody>
      </p:sp>
      <p:sp>
        <p:nvSpPr>
          <p:cNvPr id="8" name="Text 6"/>
          <p:cNvSpPr/>
          <p:nvPr/>
        </p:nvSpPr>
        <p:spPr>
          <a:xfrm>
            <a:off x="6977697" y="4119879"/>
            <a:ext cx="4292857"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B942"/>
                </a:solidFill>
                <a:latin typeface="IBM Plex Sans" pitchFamily="34" charset="0"/>
                <a:ea typeface="IBM Plex Sans" pitchFamily="34" charset="-122"/>
                <a:cs typeface="IBM Plex Sans" pitchFamily="34" charset="-120"/>
              </a:rPr>
              <a:t>3.</a:t>
            </a:r>
            <a:r>
              <a:rPr lang="en-US" sz="1300" dirty="0">
                <a:solidFill>
                  <a:srgbClr val="E8ECF4"/>
                </a:solidFill>
                <a:latin typeface="IBM Plex Sans" pitchFamily="34" charset="0"/>
                <a:ea typeface="IBM Plex Sans" pitchFamily="34" charset="-122"/>
                <a:cs typeface="IBM Plex Sans" pitchFamily="34" charset="-120"/>
              </a:rPr>
              <a:t> Вернуть constructor, он пропал при замене заготовки</a:t>
            </a:r>
            <a:endParaRPr lang="en-US" sz="1300" dirty="0"/>
          </a:p>
        </p:txBody>
      </p:sp>
      <p:sp>
        <p:nvSpPr>
          <p:cNvPr id="9" name="Text 7"/>
          <p:cNvSpPr/>
          <p:nvPr/>
        </p:nvSpPr>
        <p:spPr>
          <a:xfrm>
            <a:off x="6977697" y="4683764"/>
            <a:ext cx="439515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B942"/>
                </a:solidFill>
                <a:latin typeface="IBM Plex Sans" pitchFamily="34" charset="0"/>
                <a:ea typeface="IBM Plex Sans" pitchFamily="34" charset="-122"/>
                <a:cs typeface="IBM Plex Sans" pitchFamily="34" charset="-120"/>
              </a:rPr>
              <a:t>4.</a:t>
            </a:r>
            <a:r>
              <a:rPr lang="en-US" sz="1300" dirty="0">
                <a:solidFill>
                  <a:srgbClr val="E8ECF4"/>
                </a:solidFill>
                <a:latin typeface="IBM Plex Sans" pitchFamily="34" charset="0"/>
                <a:ea typeface="IBM Plex Sans" pitchFamily="34" charset="-122"/>
                <a:cs typeface="IBM Plex Sans" pitchFamily="34" charset="-120"/>
              </a:rPr>
              <a:t> Вызвать метод родителя вручную через .call(this)</a:t>
            </a:r>
            <a:endParaRPr lang="en-US" sz="1300" dirty="0"/>
          </a:p>
        </p:txBody>
      </p:sp>
      <p:sp>
        <p:nvSpPr>
          <p:cNvPr id="10" name="Text 8"/>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B0"/>
                </a:solidFill>
                <a:latin typeface="IBM Plex Sans" pitchFamily="34" charset="0"/>
                <a:ea typeface="IBM Plex Sans" pitchFamily="34" charset="-122"/>
                <a:cs typeface="IBM Plex Sans" pitchFamily="34" charset="-120"/>
              </a:rPr>
              <a:t>Прототипное наследование в JavaScript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42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5FA"/>
                </a:solidFill>
                <a:latin typeface="IBM Plex Sans" pitchFamily="34" charset="0"/>
                <a:ea typeface="IBM Plex Sans" pitchFamily="34" charset="-122"/>
                <a:cs typeface="IBM Plex Sans" pitchFamily="34" charset="-120"/>
              </a:rPr>
              <a:t>Цепочка у rex</a:t>
            </a:r>
            <a:endParaRPr lang="en-US" sz="3600" dirty="0"/>
          </a:p>
        </p:txBody>
      </p:sp>
      <p:sp>
        <p:nvSpPr>
          <p:cNvPr id="3" name="Shape 1"/>
          <p:cNvSpPr/>
          <p:nvPr/>
        </p:nvSpPr>
        <p:spPr>
          <a:xfrm>
            <a:off x="819150" y="1525271"/>
            <a:ext cx="2255520" cy="770890"/>
          </a:xfrm>
          <a:prstGeom prst="roundRect">
            <a:avLst>
              <a:gd name="adj" fmla="val 15651"/>
            </a:avLst>
          </a:prstGeom>
          <a:solidFill>
            <a:srgbClr val="1B2340"/>
          </a:solidFill>
          <a:ln w="12700">
            <a:solidFill>
              <a:srgbClr val="F5B942"/>
            </a:solidFill>
            <a:prstDash val="solid"/>
          </a:ln>
        </p:spPr>
        <p:txBody>
          <a:bodyPr/>
          <a:lstStyle/>
          <a:p>
            <a:endParaRPr lang="ru-RU"/>
          </a:p>
        </p:txBody>
      </p:sp>
      <p:sp>
        <p:nvSpPr>
          <p:cNvPr id="4" name="Text 2"/>
          <p:cNvSpPr/>
          <p:nvPr/>
        </p:nvSpPr>
        <p:spPr>
          <a:xfrm>
            <a:off x="1000760" y="1681479"/>
            <a:ext cx="194906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B942"/>
                </a:solidFill>
                <a:latin typeface="IBM Plex Sans" pitchFamily="34" charset="0"/>
                <a:ea typeface="IBM Plex Sans" pitchFamily="34" charset="-122"/>
                <a:cs typeface="IBM Plex Sans" pitchFamily="34" charset="-120"/>
              </a:rPr>
              <a:t>rex</a:t>
            </a:r>
            <a:endParaRPr lang="en-US" sz="1400" dirty="0"/>
          </a:p>
        </p:txBody>
      </p:sp>
      <p:sp>
        <p:nvSpPr>
          <p:cNvPr id="5" name="Text 3"/>
          <p:cNvSpPr/>
          <p:nvPr/>
        </p:nvSpPr>
        <p:spPr>
          <a:xfrm>
            <a:off x="1000760" y="1930400"/>
            <a:ext cx="1949069" cy="234950"/>
          </a:xfrm>
          <a:prstGeom prst="rect">
            <a:avLst/>
          </a:prstGeom>
          <a:noFill/>
          <a:ln/>
        </p:spPr>
        <p:txBody>
          <a:bodyPr wrap="none" lIns="0" tIns="0" rIns="0" bIns="0" rtlCol="0" anchor="t">
            <a:normAutofit/>
          </a:bodyPr>
          <a:lstStyle/>
          <a:p>
            <a:pPr marL="0" indent="0" algn="l">
              <a:lnSpc>
                <a:spcPts val="1650"/>
              </a:lnSpc>
              <a:buNone/>
            </a:pPr>
            <a:r>
              <a:rPr lang="en-US" sz="1100" dirty="0">
                <a:solidFill>
                  <a:srgbClr val="D7DEEE"/>
                </a:solidFill>
                <a:latin typeface="JetBrains Mono" pitchFamily="49" charset="0"/>
                <a:ea typeface="JetBrains Mono" pitchFamily="49" charset="-122"/>
                <a:cs typeface="JetBrains Mono" pitchFamily="49" charset="-120"/>
              </a:rPr>
              <a:t>name: 'Рекс'</a:t>
            </a:r>
            <a:endParaRPr lang="en-US" sz="1100" dirty="0"/>
          </a:p>
        </p:txBody>
      </p:sp>
      <p:sp>
        <p:nvSpPr>
          <p:cNvPr id="6" name="Text 4"/>
          <p:cNvSpPr/>
          <p:nvPr/>
        </p:nvSpPr>
        <p:spPr>
          <a:xfrm>
            <a:off x="3208020" y="1732917"/>
            <a:ext cx="3048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5CC8E8"/>
                </a:solidFill>
                <a:latin typeface="IBM Plex Sans" pitchFamily="34" charset="0"/>
                <a:ea typeface="IBM Plex Sans" pitchFamily="34" charset="-122"/>
                <a:cs typeface="IBM Plex Sans" pitchFamily="34" charset="-120"/>
              </a:rPr>
              <a:t>→</a:t>
            </a:r>
            <a:endParaRPr lang="en-US" sz="2000" dirty="0"/>
          </a:p>
        </p:txBody>
      </p:sp>
      <p:sp>
        <p:nvSpPr>
          <p:cNvPr id="7" name="Shape 5"/>
          <p:cNvSpPr/>
          <p:nvPr/>
        </p:nvSpPr>
        <p:spPr>
          <a:xfrm>
            <a:off x="3592195" y="1522096"/>
            <a:ext cx="2251710" cy="777240"/>
          </a:xfrm>
          <a:prstGeom prst="roundRect">
            <a:avLst>
              <a:gd name="adj" fmla="val 15931"/>
            </a:avLst>
          </a:prstGeom>
          <a:solidFill>
            <a:srgbClr val="1B2340"/>
          </a:solidFill>
          <a:ln w="6350">
            <a:solidFill>
              <a:srgbClr val="2E3961"/>
            </a:solidFill>
            <a:prstDash val="solid"/>
          </a:ln>
        </p:spPr>
        <p:txBody>
          <a:bodyPr/>
          <a:lstStyle/>
          <a:p>
            <a:endParaRPr lang="ru-RU"/>
          </a:p>
        </p:txBody>
      </p:sp>
      <p:sp>
        <p:nvSpPr>
          <p:cNvPr id="8" name="Text 6"/>
          <p:cNvSpPr/>
          <p:nvPr/>
        </p:nvSpPr>
        <p:spPr>
          <a:xfrm>
            <a:off x="3771900" y="1676400"/>
            <a:ext cx="194906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CC8E8"/>
                </a:solidFill>
                <a:latin typeface="IBM Plex Sans" pitchFamily="34" charset="0"/>
                <a:ea typeface="IBM Plex Sans" pitchFamily="34" charset="-122"/>
                <a:cs typeface="IBM Plex Sans" pitchFamily="34" charset="-120"/>
              </a:rPr>
              <a:t>Dog.prototype</a:t>
            </a:r>
            <a:endParaRPr lang="en-US" sz="1400" dirty="0"/>
          </a:p>
        </p:txBody>
      </p:sp>
      <p:sp>
        <p:nvSpPr>
          <p:cNvPr id="9" name="Text 7"/>
          <p:cNvSpPr/>
          <p:nvPr/>
        </p:nvSpPr>
        <p:spPr>
          <a:xfrm>
            <a:off x="3771900" y="1925321"/>
            <a:ext cx="1949069" cy="234950"/>
          </a:xfrm>
          <a:prstGeom prst="rect">
            <a:avLst/>
          </a:prstGeom>
          <a:noFill/>
          <a:ln/>
        </p:spPr>
        <p:txBody>
          <a:bodyPr wrap="none" lIns="0" tIns="0" rIns="0" bIns="0" rtlCol="0" anchor="t">
            <a:normAutofit/>
          </a:bodyPr>
          <a:lstStyle/>
          <a:p>
            <a:pPr marL="0" indent="0" algn="l">
              <a:lnSpc>
                <a:spcPts val="1650"/>
              </a:lnSpc>
              <a:buNone/>
            </a:pPr>
            <a:r>
              <a:rPr lang="en-US" sz="1100" dirty="0">
                <a:solidFill>
                  <a:srgbClr val="D7DEEE"/>
                </a:solidFill>
                <a:latin typeface="JetBrains Mono" pitchFamily="49" charset="0"/>
                <a:ea typeface="JetBrains Mono" pitchFamily="49" charset="-122"/>
                <a:cs typeface="JetBrains Mono" pitchFamily="49" charset="-120"/>
              </a:rPr>
              <a:t>speak, constructor</a:t>
            </a:r>
            <a:endParaRPr lang="en-US" sz="1100" dirty="0"/>
          </a:p>
        </p:txBody>
      </p:sp>
      <p:sp>
        <p:nvSpPr>
          <p:cNvPr id="10" name="Text 8"/>
          <p:cNvSpPr/>
          <p:nvPr/>
        </p:nvSpPr>
        <p:spPr>
          <a:xfrm>
            <a:off x="5974080" y="1732917"/>
            <a:ext cx="3048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5CC8E8"/>
                </a:solidFill>
                <a:latin typeface="IBM Plex Sans" pitchFamily="34" charset="0"/>
                <a:ea typeface="IBM Plex Sans" pitchFamily="34" charset="-122"/>
                <a:cs typeface="IBM Plex Sans" pitchFamily="34" charset="-120"/>
              </a:rPr>
              <a:t>→</a:t>
            </a:r>
            <a:endParaRPr lang="en-US" sz="2000" dirty="0"/>
          </a:p>
        </p:txBody>
      </p:sp>
      <p:sp>
        <p:nvSpPr>
          <p:cNvPr id="11" name="Shape 9"/>
          <p:cNvSpPr/>
          <p:nvPr/>
        </p:nvSpPr>
        <p:spPr>
          <a:xfrm>
            <a:off x="6358255" y="1522096"/>
            <a:ext cx="2251710" cy="777240"/>
          </a:xfrm>
          <a:prstGeom prst="roundRect">
            <a:avLst>
              <a:gd name="adj" fmla="val 15931"/>
            </a:avLst>
          </a:prstGeom>
          <a:solidFill>
            <a:srgbClr val="1B2340"/>
          </a:solidFill>
          <a:ln w="6350">
            <a:solidFill>
              <a:srgbClr val="2E3961"/>
            </a:solidFill>
            <a:prstDash val="solid"/>
          </a:ln>
        </p:spPr>
        <p:txBody>
          <a:bodyPr/>
          <a:lstStyle/>
          <a:p>
            <a:endParaRPr lang="ru-RU"/>
          </a:p>
        </p:txBody>
      </p:sp>
      <p:sp>
        <p:nvSpPr>
          <p:cNvPr id="12" name="Text 10"/>
          <p:cNvSpPr/>
          <p:nvPr/>
        </p:nvSpPr>
        <p:spPr>
          <a:xfrm>
            <a:off x="6537960" y="1676400"/>
            <a:ext cx="194906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CC8E8"/>
                </a:solidFill>
                <a:latin typeface="IBM Plex Sans" pitchFamily="34" charset="0"/>
                <a:ea typeface="IBM Plex Sans" pitchFamily="34" charset="-122"/>
                <a:cs typeface="IBM Plex Sans" pitchFamily="34" charset="-120"/>
              </a:rPr>
              <a:t>Animal.prototype</a:t>
            </a:r>
            <a:endParaRPr lang="en-US" sz="1400" dirty="0"/>
          </a:p>
        </p:txBody>
      </p:sp>
      <p:sp>
        <p:nvSpPr>
          <p:cNvPr id="13" name="Text 11"/>
          <p:cNvSpPr/>
          <p:nvPr/>
        </p:nvSpPr>
        <p:spPr>
          <a:xfrm>
            <a:off x="6537960" y="1925321"/>
            <a:ext cx="1949069" cy="234950"/>
          </a:xfrm>
          <a:prstGeom prst="rect">
            <a:avLst/>
          </a:prstGeom>
          <a:noFill/>
          <a:ln/>
        </p:spPr>
        <p:txBody>
          <a:bodyPr wrap="none" lIns="0" tIns="0" rIns="0" bIns="0" rtlCol="0" anchor="t">
            <a:normAutofit/>
          </a:bodyPr>
          <a:lstStyle/>
          <a:p>
            <a:pPr marL="0" indent="0" algn="l">
              <a:lnSpc>
                <a:spcPts val="1650"/>
              </a:lnSpc>
              <a:buNone/>
            </a:pPr>
            <a:r>
              <a:rPr lang="en-US" sz="1100" dirty="0">
                <a:solidFill>
                  <a:srgbClr val="D7DEEE"/>
                </a:solidFill>
                <a:latin typeface="JetBrains Mono" pitchFamily="49" charset="0"/>
                <a:ea typeface="JetBrains Mono" pitchFamily="49" charset="-122"/>
                <a:cs typeface="JetBrains Mono" pitchFamily="49" charset="-120"/>
              </a:rPr>
              <a:t>speak, constructor</a:t>
            </a:r>
            <a:endParaRPr lang="en-US" sz="1100" dirty="0"/>
          </a:p>
        </p:txBody>
      </p:sp>
      <p:sp>
        <p:nvSpPr>
          <p:cNvPr id="14" name="Text 12"/>
          <p:cNvSpPr/>
          <p:nvPr/>
        </p:nvSpPr>
        <p:spPr>
          <a:xfrm>
            <a:off x="8740140" y="1732917"/>
            <a:ext cx="3048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5CC8E8"/>
                </a:solidFill>
                <a:latin typeface="IBM Plex Sans" pitchFamily="34" charset="0"/>
                <a:ea typeface="IBM Plex Sans" pitchFamily="34" charset="-122"/>
                <a:cs typeface="IBM Plex Sans" pitchFamily="34" charset="-120"/>
              </a:rPr>
              <a:t>→</a:t>
            </a:r>
            <a:endParaRPr lang="en-US" sz="2000" dirty="0"/>
          </a:p>
        </p:txBody>
      </p:sp>
      <p:sp>
        <p:nvSpPr>
          <p:cNvPr id="15" name="Shape 13"/>
          <p:cNvSpPr/>
          <p:nvPr/>
        </p:nvSpPr>
        <p:spPr>
          <a:xfrm>
            <a:off x="9124315" y="1522096"/>
            <a:ext cx="2251710" cy="777240"/>
          </a:xfrm>
          <a:prstGeom prst="roundRect">
            <a:avLst>
              <a:gd name="adj" fmla="val 15931"/>
            </a:avLst>
          </a:prstGeom>
          <a:solidFill>
            <a:srgbClr val="1B2340"/>
          </a:solidFill>
          <a:ln w="6350">
            <a:solidFill>
              <a:srgbClr val="2E3961"/>
            </a:solidFill>
            <a:prstDash val="solid"/>
          </a:ln>
        </p:spPr>
        <p:txBody>
          <a:bodyPr/>
          <a:lstStyle/>
          <a:p>
            <a:endParaRPr lang="ru-RU"/>
          </a:p>
        </p:txBody>
      </p:sp>
      <p:sp>
        <p:nvSpPr>
          <p:cNvPr id="16" name="Text 14"/>
          <p:cNvSpPr/>
          <p:nvPr/>
        </p:nvSpPr>
        <p:spPr>
          <a:xfrm>
            <a:off x="9304020" y="1676400"/>
            <a:ext cx="194906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CC8E8"/>
                </a:solidFill>
                <a:latin typeface="IBM Plex Sans" pitchFamily="34" charset="0"/>
                <a:ea typeface="IBM Plex Sans" pitchFamily="34" charset="-122"/>
                <a:cs typeface="IBM Plex Sans" pitchFamily="34" charset="-120"/>
              </a:rPr>
              <a:t>Object.prototype</a:t>
            </a:r>
            <a:endParaRPr lang="en-US" sz="1400" dirty="0"/>
          </a:p>
        </p:txBody>
      </p:sp>
      <p:sp>
        <p:nvSpPr>
          <p:cNvPr id="17" name="Text 15"/>
          <p:cNvSpPr/>
          <p:nvPr/>
        </p:nvSpPr>
        <p:spPr>
          <a:xfrm>
            <a:off x="9304020" y="1925321"/>
            <a:ext cx="1949069" cy="234950"/>
          </a:xfrm>
          <a:prstGeom prst="rect">
            <a:avLst/>
          </a:prstGeom>
          <a:noFill/>
          <a:ln/>
        </p:spPr>
        <p:txBody>
          <a:bodyPr wrap="none" lIns="0" tIns="0" rIns="0" bIns="0" rtlCol="0" anchor="t">
            <a:normAutofit/>
          </a:bodyPr>
          <a:lstStyle/>
          <a:p>
            <a:pPr marL="0" indent="0" algn="l">
              <a:lnSpc>
                <a:spcPts val="1650"/>
              </a:lnSpc>
              <a:buNone/>
            </a:pPr>
            <a:r>
              <a:rPr lang="en-US" sz="1100" dirty="0">
                <a:solidFill>
                  <a:srgbClr val="D7DEEE"/>
                </a:solidFill>
                <a:latin typeface="JetBrains Mono" pitchFamily="49" charset="0"/>
                <a:ea typeface="JetBrains Mono" pitchFamily="49" charset="-122"/>
                <a:cs typeface="JetBrains Mono" pitchFamily="49" charset="-120"/>
              </a:rPr>
              <a:t>toString, … → null</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2960" y="2515874"/>
          <a:ext cx="10556240" cy="2221230"/>
        </p:xfrm>
        <a:graphic>
          <a:graphicData uri="http://schemas.openxmlformats.org/drawingml/2006/table">
            <a:tbl>
              <a:tblPr/>
              <a:tblGrid>
                <a:gridCol w="3800246">
                  <a:extLst>
                    <a:ext uri="{9D8B030D-6E8A-4147-A177-3AD203B41FA5}">
                      <a16:colId xmlns:a16="http://schemas.microsoft.com/office/drawing/2014/main" val="20000"/>
                    </a:ext>
                  </a:extLst>
                </a:gridCol>
                <a:gridCol w="6755994">
                  <a:extLst>
                    <a:ext uri="{9D8B030D-6E8A-4147-A177-3AD203B41FA5}">
                      <a16:colId xmlns:a16="http://schemas.microsoft.com/office/drawing/2014/main" val="20001"/>
                    </a:ext>
                  </a:extLst>
                </a:gridCol>
              </a:tblGrid>
              <a:tr h="370205">
                <a:tc>
                  <a:txBody>
                    <a:bodyPr/>
                    <a:lstStyle/>
                    <a:p>
                      <a:pPr marL="0" indent="0">
                        <a:lnSpc>
                          <a:spcPts val="1890"/>
                        </a:lnSpc>
                        <a:buNone/>
                      </a:pPr>
                      <a:r>
                        <a:rPr lang="en-US" sz="1350" b="1" dirty="0">
                          <a:solidFill>
                            <a:srgbClr val="F5B942"/>
                          </a:solidFill>
                          <a:latin typeface="IBM Plex Sans" pitchFamily="34" charset="0"/>
                          <a:ea typeface="IBM Plex Sans" pitchFamily="34" charset="-122"/>
                          <a:cs typeface="IBM Plex Sans" pitchFamily="34" charset="-120"/>
                        </a:rPr>
                        <a:t>Вызов</a:t>
                      </a:r>
                      <a:endParaRPr lang="en-US" sz="1350" dirty="0">
                        <a:latin typeface="IBM Plex Sans" charset="0"/>
                        <a:ea typeface="IBM Plex Sans" charset="0"/>
                        <a:cs typeface="IBM Plex Sans" charset="0"/>
                      </a:endParaRPr>
                    </a:p>
                  </a:txBody>
                  <a:tcPr marL="60007" marR="60007" marT="60007" marB="60007">
                    <a:lnL w="12700" cap="flat" cmpd="sng" algn="ctr">
                      <a:solidFill>
                        <a:srgbClr val="43464F"/>
                      </a:solidFill>
                      <a:prstDash val="solid"/>
                      <a:round/>
                      <a:headEnd type="none" w="med" len="med"/>
                      <a:tailEnd type="none" w="med" len="med"/>
                    </a:lnL>
                    <a:lnR w="12700" cap="flat" cmpd="sng" algn="ctr">
                      <a:solidFill>
                        <a:srgbClr val="52545C"/>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52545C"/>
                      </a:solidFill>
                      <a:prstDash val="solid"/>
                      <a:round/>
                      <a:headEnd type="none" w="med" len="med"/>
                      <a:tailEnd type="none" w="med" len="med"/>
                    </a:lnB>
                    <a:solidFill>
                      <a:srgbClr val="222631"/>
                    </a:solidFill>
                  </a:tcPr>
                </a:tc>
                <a:tc>
                  <a:txBody>
                    <a:bodyPr/>
                    <a:lstStyle/>
                    <a:p>
                      <a:pPr marL="0" indent="0">
                        <a:lnSpc>
                          <a:spcPts val="1890"/>
                        </a:lnSpc>
                        <a:buNone/>
                      </a:pPr>
                      <a:r>
                        <a:rPr lang="en-US" sz="1350" b="1" dirty="0">
                          <a:solidFill>
                            <a:srgbClr val="F5B942"/>
                          </a:solidFill>
                          <a:latin typeface="IBM Plex Sans" pitchFamily="34" charset="0"/>
                          <a:ea typeface="IBM Plex Sans" pitchFamily="34" charset="-122"/>
                          <a:cs typeface="IBM Plex Sans" pitchFamily="34" charset="-120"/>
                        </a:rPr>
                        <a:t>Где найден</a:t>
                      </a:r>
                      <a:endParaRPr lang="en-US" sz="1350" dirty="0">
                        <a:latin typeface="IBM Plex Sans" charset="0"/>
                        <a:ea typeface="IBM Plex Sans" charset="0"/>
                        <a:cs typeface="IBM Plex Sans" charset="0"/>
                      </a:endParaRPr>
                    </a:p>
                  </a:txBody>
                  <a:tcPr marL="60007" marR="60007" marT="60007" marB="60007">
                    <a:lnL w="12700" cap="flat" cmpd="sng" algn="ctr">
                      <a:solidFill>
                        <a:srgbClr val="52545C"/>
                      </a:solidFill>
                      <a:prstDash val="solid"/>
                      <a:round/>
                      <a:headEnd type="none" w="med" len="med"/>
                      <a:tailEnd type="none" w="med" len="med"/>
                    </a:lnL>
                    <a:lnR w="12700" cap="flat" cmpd="sng" algn="ctr">
                      <a:solidFill>
                        <a:srgbClr val="52545C"/>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52545C"/>
                      </a:solidFill>
                      <a:prstDash val="solid"/>
                      <a:round/>
                      <a:headEnd type="none" w="med" len="med"/>
                      <a:tailEnd type="none" w="med" len="med"/>
                    </a:lnB>
                    <a:solidFill>
                      <a:srgbClr val="222631"/>
                    </a:solidFill>
                  </a:tcPr>
                </a:tc>
                <a:extLst>
                  <a:ext uri="{0D108BD9-81ED-4DB2-BD59-A6C34878D82A}">
                    <a16:rowId xmlns:a16="http://schemas.microsoft.com/office/drawing/2014/main" val="10000"/>
                  </a:ext>
                </a:extLst>
              </a:tr>
              <a:tr h="370205">
                <a:tc>
                  <a:txBody>
                    <a:bodyPr/>
                    <a:lstStyle/>
                    <a:p>
                      <a:pPr marL="0" indent="0">
                        <a:lnSpc>
                          <a:spcPts val="1890"/>
                        </a:lnSpc>
                        <a:buNone/>
                      </a:pPr>
                      <a:r>
                        <a:rPr lang="en-US" sz="1350" dirty="0">
                          <a:solidFill>
                            <a:srgbClr val="E8ECF4"/>
                          </a:solidFill>
                          <a:latin typeface="IBM Plex Sans" pitchFamily="34" charset="0"/>
                          <a:ea typeface="IBM Plex Sans" pitchFamily="34" charset="-122"/>
                          <a:cs typeface="IBM Plex Sans" pitchFamily="34" charset="-120"/>
                        </a:rPr>
                        <a:t>rex.name</a:t>
                      </a:r>
                      <a:endParaRPr lang="en-US" sz="1350" dirty="0">
                        <a:latin typeface="IBM Plex Sans" charset="0"/>
                        <a:ea typeface="IBM Plex Sans" charset="0"/>
                        <a:cs typeface="IBM Plex Sans" charset="0"/>
                      </a:endParaRPr>
                    </a:p>
                  </a:txBody>
                  <a:tcPr marL="60007" marR="60007" marT="60007" marB="60007">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52545C"/>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tc>
                  <a:txBody>
                    <a:bodyPr/>
                    <a:lstStyle/>
                    <a:p>
                      <a:pPr marL="0" indent="0">
                        <a:lnSpc>
                          <a:spcPts val="1890"/>
                        </a:lnSpc>
                        <a:buNone/>
                      </a:pPr>
                      <a:r>
                        <a:rPr lang="en-US" sz="1350" dirty="0">
                          <a:solidFill>
                            <a:srgbClr val="E8ECF4"/>
                          </a:solidFill>
                          <a:latin typeface="IBM Plex Sans" pitchFamily="34" charset="0"/>
                          <a:ea typeface="IBM Plex Sans" pitchFamily="34" charset="-122"/>
                          <a:cs typeface="IBM Plex Sans" pitchFamily="34" charset="-120"/>
                        </a:rPr>
                        <a:t>у самого rex, собственное свойство</a:t>
                      </a:r>
                      <a:endParaRPr lang="en-US" sz="1350" dirty="0">
                        <a:latin typeface="IBM Plex Sans" charset="0"/>
                        <a:ea typeface="IBM Plex Sans" charset="0"/>
                        <a:cs typeface="IBM Plex Sans" charset="0"/>
                      </a:endParaRPr>
                    </a:p>
                  </a:txBody>
                  <a:tcPr marL="60007" marR="60007" marT="60007" marB="60007">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52545C"/>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extLst>
                  <a:ext uri="{0D108BD9-81ED-4DB2-BD59-A6C34878D82A}">
                    <a16:rowId xmlns:a16="http://schemas.microsoft.com/office/drawing/2014/main" val="10001"/>
                  </a:ext>
                </a:extLst>
              </a:tr>
              <a:tr h="370205">
                <a:tc>
                  <a:txBody>
                    <a:bodyPr/>
                    <a:lstStyle/>
                    <a:p>
                      <a:pPr marL="0" indent="0">
                        <a:lnSpc>
                          <a:spcPts val="1890"/>
                        </a:lnSpc>
                        <a:buNone/>
                      </a:pPr>
                      <a:r>
                        <a:rPr lang="en-US" sz="1350" dirty="0">
                          <a:solidFill>
                            <a:srgbClr val="E8ECF4"/>
                          </a:solidFill>
                          <a:latin typeface="IBM Plex Sans" pitchFamily="34" charset="0"/>
                          <a:ea typeface="IBM Plex Sans" pitchFamily="34" charset="-122"/>
                          <a:cs typeface="IBM Plex Sans" pitchFamily="34" charset="-120"/>
                        </a:rPr>
                        <a:t>rex.speak()</a:t>
                      </a:r>
                      <a:endParaRPr lang="en-US" sz="1350" dirty="0">
                        <a:latin typeface="IBM Plex Sans" charset="0"/>
                        <a:ea typeface="IBM Plex Sans" charset="0"/>
                        <a:cs typeface="IBM Plex Sans" charset="0"/>
                      </a:endParaRPr>
                    </a:p>
                  </a:txBody>
                  <a:tcPr marL="60007" marR="60007" marT="60007" marB="60007">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tc>
                  <a:txBody>
                    <a:bodyPr/>
                    <a:lstStyle/>
                    <a:p>
                      <a:pPr marL="0" indent="0">
                        <a:lnSpc>
                          <a:spcPts val="1890"/>
                        </a:lnSpc>
                        <a:buNone/>
                      </a:pPr>
                      <a:r>
                        <a:rPr lang="en-US" sz="1350" dirty="0">
                          <a:solidFill>
                            <a:srgbClr val="E8ECF4"/>
                          </a:solidFill>
                          <a:latin typeface="IBM Plex Sans" pitchFamily="34" charset="0"/>
                          <a:ea typeface="IBM Plex Sans" pitchFamily="34" charset="-122"/>
                          <a:cs typeface="IBM Plex Sans" pitchFamily="34" charset="-120"/>
                        </a:rPr>
                        <a:t>в Dog.prototype: 'Рекс издаёт звук: гав'</a:t>
                      </a:r>
                      <a:endParaRPr lang="en-US" sz="1350" dirty="0">
                        <a:latin typeface="IBM Plex Sans" charset="0"/>
                        <a:ea typeface="IBM Plex Sans" charset="0"/>
                        <a:cs typeface="IBM Plex Sans" charset="0"/>
                      </a:endParaRPr>
                    </a:p>
                  </a:txBody>
                  <a:tcPr marL="60007" marR="60007" marT="60007" marB="60007">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extLst>
                  <a:ext uri="{0D108BD9-81ED-4DB2-BD59-A6C34878D82A}">
                    <a16:rowId xmlns:a16="http://schemas.microsoft.com/office/drawing/2014/main" val="10002"/>
                  </a:ext>
                </a:extLst>
              </a:tr>
              <a:tr h="370205">
                <a:tc>
                  <a:txBody>
                    <a:bodyPr/>
                    <a:lstStyle/>
                    <a:p>
                      <a:pPr marL="0" indent="0">
                        <a:lnSpc>
                          <a:spcPts val="1890"/>
                        </a:lnSpc>
                        <a:buNone/>
                      </a:pPr>
                      <a:r>
                        <a:rPr lang="en-US" sz="1350" dirty="0">
                          <a:solidFill>
                            <a:srgbClr val="E8ECF4"/>
                          </a:solidFill>
                          <a:latin typeface="IBM Plex Sans" pitchFamily="34" charset="0"/>
                          <a:ea typeface="IBM Plex Sans" pitchFamily="34" charset="-122"/>
                          <a:cs typeface="IBM Plex Sans" pitchFamily="34" charset="-120"/>
                        </a:rPr>
                        <a:t>Animal.prototype.speak.call(this)</a:t>
                      </a:r>
                      <a:endParaRPr lang="en-US" sz="1350" dirty="0">
                        <a:latin typeface="IBM Plex Sans" charset="0"/>
                        <a:ea typeface="IBM Plex Sans" charset="0"/>
                        <a:cs typeface="IBM Plex Sans" charset="0"/>
                      </a:endParaRPr>
                    </a:p>
                  </a:txBody>
                  <a:tcPr marL="60007" marR="60007" marT="60007" marB="60007">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tc>
                  <a:txBody>
                    <a:bodyPr/>
                    <a:lstStyle/>
                    <a:p>
                      <a:pPr marL="0" indent="0">
                        <a:lnSpc>
                          <a:spcPts val="1890"/>
                        </a:lnSpc>
                        <a:buNone/>
                      </a:pPr>
                      <a:r>
                        <a:rPr lang="en-US" sz="1350" dirty="0">
                          <a:solidFill>
                            <a:srgbClr val="E8ECF4"/>
                          </a:solidFill>
                          <a:latin typeface="IBM Plex Sans" pitchFamily="34" charset="0"/>
                          <a:ea typeface="IBM Plex Sans" pitchFamily="34" charset="-122"/>
                          <a:cs typeface="IBM Plex Sans" pitchFamily="34" charset="-120"/>
                        </a:rPr>
                        <a:t>метод родителя, вызванный с this = rex</a:t>
                      </a:r>
                      <a:endParaRPr lang="en-US" sz="1350" dirty="0">
                        <a:latin typeface="IBM Plex Sans" charset="0"/>
                        <a:ea typeface="IBM Plex Sans" charset="0"/>
                        <a:cs typeface="IBM Plex Sans" charset="0"/>
                      </a:endParaRPr>
                    </a:p>
                  </a:txBody>
                  <a:tcPr marL="60007" marR="60007" marT="60007" marB="60007">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extLst>
                  <a:ext uri="{0D108BD9-81ED-4DB2-BD59-A6C34878D82A}">
                    <a16:rowId xmlns:a16="http://schemas.microsoft.com/office/drawing/2014/main" val="10003"/>
                  </a:ext>
                </a:extLst>
              </a:tr>
              <a:tr h="370205">
                <a:tc>
                  <a:txBody>
                    <a:bodyPr/>
                    <a:lstStyle/>
                    <a:p>
                      <a:pPr marL="0" indent="0">
                        <a:lnSpc>
                          <a:spcPts val="1890"/>
                        </a:lnSpc>
                        <a:buNone/>
                      </a:pPr>
                      <a:r>
                        <a:rPr lang="en-US" sz="1350" dirty="0">
                          <a:solidFill>
                            <a:srgbClr val="E8ECF4"/>
                          </a:solidFill>
                          <a:latin typeface="IBM Plex Sans" pitchFamily="34" charset="0"/>
                          <a:ea typeface="IBM Plex Sans" pitchFamily="34" charset="-122"/>
                          <a:cs typeface="IBM Plex Sans" pitchFamily="34" charset="-120"/>
                        </a:rPr>
                        <a:t>rex.toString()</a:t>
                      </a:r>
                      <a:endParaRPr lang="en-US" sz="1350" dirty="0">
                        <a:latin typeface="IBM Plex Sans" charset="0"/>
                        <a:ea typeface="IBM Plex Sans" charset="0"/>
                        <a:cs typeface="IBM Plex Sans" charset="0"/>
                      </a:endParaRPr>
                    </a:p>
                  </a:txBody>
                  <a:tcPr marL="60007" marR="60007" marT="60007" marB="60007">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tc>
                  <a:txBody>
                    <a:bodyPr/>
                    <a:lstStyle/>
                    <a:p>
                      <a:pPr marL="0" indent="0">
                        <a:lnSpc>
                          <a:spcPts val="1890"/>
                        </a:lnSpc>
                        <a:buNone/>
                      </a:pPr>
                      <a:r>
                        <a:rPr lang="en-US" sz="1350" dirty="0">
                          <a:solidFill>
                            <a:srgbClr val="E8ECF4"/>
                          </a:solidFill>
                          <a:latin typeface="IBM Plex Sans" pitchFamily="34" charset="0"/>
                          <a:ea typeface="IBM Plex Sans" pitchFamily="34" charset="-122"/>
                          <a:cs typeface="IBM Plex Sans" pitchFamily="34" charset="-120"/>
                        </a:rPr>
                        <a:t>в самом конце цепочки, Object.prototype</a:t>
                      </a:r>
                      <a:endParaRPr lang="en-US" sz="1350" dirty="0">
                        <a:latin typeface="IBM Plex Sans" charset="0"/>
                        <a:ea typeface="IBM Plex Sans" charset="0"/>
                        <a:cs typeface="IBM Plex Sans" charset="0"/>
                      </a:endParaRPr>
                    </a:p>
                  </a:txBody>
                  <a:tcPr marL="60007" marR="60007" marT="60007" marB="60007">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extLst>
                  <a:ext uri="{0D108BD9-81ED-4DB2-BD59-A6C34878D82A}">
                    <a16:rowId xmlns:a16="http://schemas.microsoft.com/office/drawing/2014/main" val="10004"/>
                  </a:ext>
                </a:extLst>
              </a:tr>
              <a:tr h="370205">
                <a:tc>
                  <a:txBody>
                    <a:bodyPr/>
                    <a:lstStyle/>
                    <a:p>
                      <a:pPr marL="0" indent="0">
                        <a:lnSpc>
                          <a:spcPts val="1890"/>
                        </a:lnSpc>
                        <a:buNone/>
                      </a:pPr>
                      <a:r>
                        <a:rPr lang="en-US" sz="1350" dirty="0">
                          <a:solidFill>
                            <a:srgbClr val="E8ECF4"/>
                          </a:solidFill>
                          <a:latin typeface="IBM Plex Sans" pitchFamily="34" charset="0"/>
                          <a:ea typeface="IBM Plex Sans" pitchFamily="34" charset="-122"/>
                          <a:cs typeface="IBM Plex Sans" pitchFamily="34" charset="-120"/>
                        </a:rPr>
                        <a:t>rex instanceof Animal</a:t>
                      </a:r>
                      <a:endParaRPr lang="en-US" sz="1350" dirty="0">
                        <a:latin typeface="IBM Plex Sans" charset="0"/>
                        <a:ea typeface="IBM Plex Sans" charset="0"/>
                        <a:cs typeface="IBM Plex Sans" charset="0"/>
                      </a:endParaRPr>
                    </a:p>
                  </a:txBody>
                  <a:tcPr marL="60007" marR="60007" marT="60007" marB="60007">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tc>
                  <a:txBody>
                    <a:bodyPr/>
                    <a:lstStyle/>
                    <a:p>
                      <a:pPr marL="0" indent="0">
                        <a:lnSpc>
                          <a:spcPts val="1890"/>
                        </a:lnSpc>
                        <a:buNone/>
                      </a:pPr>
                      <a:r>
                        <a:rPr lang="en-US" sz="1350" dirty="0">
                          <a:solidFill>
                            <a:srgbClr val="E8ECF4"/>
                          </a:solidFill>
                          <a:latin typeface="IBM Plex Sans" pitchFamily="34" charset="0"/>
                          <a:ea typeface="IBM Plex Sans" pitchFamily="34" charset="-122"/>
                          <a:cs typeface="IBM Plex Sans" pitchFamily="34" charset="-120"/>
                        </a:rPr>
                        <a:t>true: Animal.prototype есть в цепочке rex</a:t>
                      </a:r>
                      <a:endParaRPr lang="en-US" sz="1350" dirty="0">
                        <a:latin typeface="IBM Plex Sans" charset="0"/>
                        <a:ea typeface="IBM Plex Sans" charset="0"/>
                        <a:cs typeface="IBM Plex Sans" charset="0"/>
                      </a:endParaRPr>
                    </a:p>
                  </a:txBody>
                  <a:tcPr marL="60007" marR="60007" marT="60007" marB="60007">
                    <a:lnL w="12700" cap="flat" cmpd="sng" algn="ctr">
                      <a:solidFill>
                        <a:srgbClr val="43464F"/>
                      </a:solidFill>
                      <a:prstDash val="solid"/>
                      <a:round/>
                      <a:headEnd type="none" w="med" len="med"/>
                      <a:tailEnd type="none" w="med" len="med"/>
                    </a:lnL>
                    <a:lnR w="12700" cap="flat" cmpd="sng" algn="ctr">
                      <a:solidFill>
                        <a:srgbClr val="43464F"/>
                      </a:solidFill>
                      <a:prstDash val="solid"/>
                      <a:round/>
                      <a:headEnd type="none" w="med" len="med"/>
                      <a:tailEnd type="none" w="med" len="med"/>
                    </a:lnR>
                    <a:lnT w="12700" cap="flat" cmpd="sng" algn="ctr">
                      <a:solidFill>
                        <a:srgbClr val="43464F"/>
                      </a:solidFill>
                      <a:prstDash val="solid"/>
                      <a:round/>
                      <a:headEnd type="none" w="med" len="med"/>
                      <a:tailEnd type="none" w="med" len="med"/>
                    </a:lnT>
                    <a:lnB w="12700" cap="flat" cmpd="sng" algn="ctr">
                      <a:solidFill>
                        <a:srgbClr val="43464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9" name="Text 16"/>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B0"/>
                </a:solidFill>
                <a:latin typeface="IBM Plex Sans" pitchFamily="34" charset="0"/>
                <a:ea typeface="IBM Plex Sans" pitchFamily="34" charset="-122"/>
                <a:cs typeface="IBM Plex Sans" pitchFamily="34" charset="-120"/>
              </a:rPr>
              <a:t>Прототипное наследование в JavaScript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B2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5FA"/>
                </a:solidFill>
                <a:latin typeface="IBM Plex Sans" pitchFamily="34" charset="0"/>
                <a:ea typeface="IBM Plex Sans" pitchFamily="34" charset="-122"/>
                <a:cs typeface="IBM Plex Sans" pitchFamily="34" charset="-120"/>
              </a:rPr>
              <a:t>Как сейчас: class</a:t>
            </a:r>
            <a:endParaRPr lang="en-US" sz="3600" dirty="0"/>
          </a:p>
        </p:txBody>
      </p:sp>
      <p:sp>
        <p:nvSpPr>
          <p:cNvPr id="3" name="Text 1"/>
          <p:cNvSpPr/>
          <p:nvPr/>
        </p:nvSpPr>
        <p:spPr>
          <a:xfrm>
            <a:off x="815975" y="1522096"/>
            <a:ext cx="4999117" cy="3592830"/>
          </a:xfrm>
          <a:prstGeom prst="roundRect">
            <a:avLst>
              <a:gd name="adj" fmla="val 3446"/>
            </a:avLst>
          </a:prstGeom>
          <a:solidFill>
            <a:srgbClr val="0A0E18"/>
          </a:solidFill>
          <a:ln w="6350">
            <a:solidFill>
              <a:srgbClr val="2E3961"/>
            </a:solidFill>
            <a:prstDash val="solid"/>
          </a:ln>
        </p:spPr>
        <p:txBody>
          <a:bodyPr wrap="none" lIns="194238" tIns="143438" rIns="58095" bIns="143438" rtlCol="0" anchor="ctr">
            <a:normAutofit/>
          </a:bodyPr>
          <a:lstStyle/>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class Animal {</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  constructor(name) { this.name = name; }</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  speak() { return this.name + ' издаёт звук'; }</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class Dog extends Animal {</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  speak() { return super.speak() + ': гав'; }</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const rex = new Dog('Рекс');</a:t>
            </a:r>
            <a:endParaRPr lang="en-US" sz="1200" dirty="0"/>
          </a:p>
          <a:p>
            <a:pPr marL="0" indent="0" algn="l">
              <a:lnSpc>
                <a:spcPts val="1800"/>
              </a:lnSpc>
              <a:buNone/>
            </a:pPr>
            <a:r>
              <a:rPr lang="en-US" sz="1200" dirty="0">
                <a:solidFill>
                  <a:srgbClr val="D7DEEE"/>
                </a:solidFill>
                <a:latin typeface="JetBrains Mono" pitchFamily="49" charset="0"/>
                <a:ea typeface="JetBrains Mono" pitchFamily="49" charset="-122"/>
                <a:cs typeface="JetBrains Mono" pitchFamily="49" charset="-120"/>
              </a:rPr>
              <a:t>rex.speak();  </a:t>
            </a:r>
            <a:r>
              <a:rPr lang="en-US" sz="1200" dirty="0">
                <a:solidFill>
                  <a:srgbClr val="8BD5A0"/>
                </a:solidFill>
                <a:latin typeface="JetBrains Mono" pitchFamily="49" charset="0"/>
                <a:ea typeface="JetBrains Mono" pitchFamily="49" charset="-122"/>
                <a:cs typeface="JetBrains Mono" pitchFamily="49" charset="-120"/>
              </a:rPr>
              <a:t>// 'Рекс издаёт звук: гав'</a:t>
            </a:r>
            <a:endParaRPr lang="en-US" sz="1200" dirty="0"/>
          </a:p>
        </p:txBody>
      </p:sp>
      <p:sp>
        <p:nvSpPr>
          <p:cNvPr id="4" name="Shape 2"/>
          <p:cNvSpPr/>
          <p:nvPr/>
        </p:nvSpPr>
        <p:spPr>
          <a:xfrm>
            <a:off x="6075442" y="1522096"/>
            <a:ext cx="5300583" cy="3592830"/>
          </a:xfrm>
          <a:prstGeom prst="roundRect">
            <a:avLst>
              <a:gd name="adj" fmla="val 3446"/>
            </a:avLst>
          </a:prstGeom>
          <a:solidFill>
            <a:srgbClr val="1B2340"/>
          </a:solidFill>
          <a:ln w="6350">
            <a:solidFill>
              <a:srgbClr val="2E3961"/>
            </a:solidFill>
            <a:prstDash val="solid"/>
          </a:ln>
        </p:spPr>
        <p:txBody>
          <a:bodyPr/>
          <a:lstStyle/>
          <a:p>
            <a:endParaRPr lang="ru-RU"/>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39907" y="2391410"/>
          <a:ext cx="4981813" cy="1864360"/>
        </p:xfrm>
        <a:graphic>
          <a:graphicData uri="http://schemas.openxmlformats.org/drawingml/2006/table">
            <a:tbl>
              <a:tblPr/>
              <a:tblGrid>
                <a:gridCol w="1893089">
                  <a:extLst>
                    <a:ext uri="{9D8B030D-6E8A-4147-A177-3AD203B41FA5}">
                      <a16:colId xmlns:a16="http://schemas.microsoft.com/office/drawing/2014/main" val="20000"/>
                    </a:ext>
                  </a:extLst>
                </a:gridCol>
                <a:gridCol w="3088724">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F5B942"/>
                          </a:solidFill>
                          <a:latin typeface="IBM Plex Sans" pitchFamily="34" charset="0"/>
                          <a:ea typeface="IBM Plex Sans" pitchFamily="34" charset="-122"/>
                          <a:cs typeface="IBM Plex Sans" pitchFamily="34" charset="-120"/>
                        </a:rPr>
                        <a:t>В коде класса</a:t>
                      </a:r>
                      <a:endParaRPr lang="en-US" sz="1200" dirty="0">
                        <a:latin typeface="IBM Plex Sans" charset="0"/>
                        <a:ea typeface="IBM Plex Sans" charset="0"/>
                        <a:cs typeface="IBM Plex Sans" charset="0"/>
                      </a:endParaRPr>
                    </a:p>
                  </a:txBody>
                  <a:tcPr marL="53340" marR="53340" marT="53340" marB="53340">
                    <a:lnL w="12700" cap="flat" cmpd="sng" algn="ctr">
                      <a:solidFill>
                        <a:srgbClr val="4C5268"/>
                      </a:solidFill>
                      <a:prstDash val="solid"/>
                      <a:round/>
                      <a:headEnd type="none" w="med" len="med"/>
                      <a:tailEnd type="none" w="med" len="med"/>
                    </a:lnL>
                    <a:lnR w="12700" cap="flat" cmpd="sng" algn="ctr">
                      <a:solidFill>
                        <a:srgbClr val="5A5F73"/>
                      </a:solidFill>
                      <a:prstDash val="solid"/>
                      <a:round/>
                      <a:headEnd type="none" w="med" len="med"/>
                      <a:tailEnd type="none" w="med" len="med"/>
                    </a:lnR>
                    <a:lnT w="12700" cap="flat" cmpd="sng" algn="ctr">
                      <a:solidFill>
                        <a:srgbClr val="4C5268"/>
                      </a:solidFill>
                      <a:prstDash val="solid"/>
                      <a:round/>
                      <a:headEnd type="none" w="med" len="med"/>
                      <a:tailEnd type="none" w="med" len="med"/>
                    </a:lnT>
                    <a:lnB w="12700" cap="flat" cmpd="sng" algn="ctr">
                      <a:solidFill>
                        <a:srgbClr val="5A5F73"/>
                      </a:solidFill>
                      <a:prstDash val="solid"/>
                      <a:round/>
                      <a:headEnd type="none" w="med" len="med"/>
                      <a:tailEnd type="none" w="med" len="med"/>
                    </a:lnB>
                    <a:solidFill>
                      <a:srgbClr val="2D344E"/>
                    </a:solidFill>
                  </a:tcPr>
                </a:tc>
                <a:tc>
                  <a:txBody>
                    <a:bodyPr/>
                    <a:lstStyle/>
                    <a:p>
                      <a:pPr marL="0" indent="0">
                        <a:lnSpc>
                          <a:spcPts val="1680"/>
                        </a:lnSpc>
                        <a:buNone/>
                      </a:pPr>
                      <a:r>
                        <a:rPr lang="en-US" sz="1200" b="1" dirty="0">
                          <a:solidFill>
                            <a:srgbClr val="F5B942"/>
                          </a:solidFill>
                          <a:latin typeface="IBM Plex Sans" pitchFamily="34" charset="0"/>
                          <a:ea typeface="IBM Plex Sans" pitchFamily="34" charset="-122"/>
                          <a:cs typeface="IBM Plex Sans" pitchFamily="34" charset="-120"/>
                        </a:rPr>
                        <a:t>Что на самом деле</a:t>
                      </a:r>
                      <a:endParaRPr lang="en-US" sz="1200" dirty="0">
                        <a:latin typeface="IBM Plex Sans" charset="0"/>
                        <a:ea typeface="IBM Plex Sans" charset="0"/>
                        <a:cs typeface="IBM Plex Sans" charset="0"/>
                      </a:endParaRPr>
                    </a:p>
                  </a:txBody>
                  <a:tcPr marL="53340" marR="53340" marT="53340" marB="53340">
                    <a:lnL w="12700" cap="flat" cmpd="sng" algn="ctr">
                      <a:solidFill>
                        <a:srgbClr val="5A5F73"/>
                      </a:solidFill>
                      <a:prstDash val="solid"/>
                      <a:round/>
                      <a:headEnd type="none" w="med" len="med"/>
                      <a:tailEnd type="none" w="med" len="med"/>
                    </a:lnL>
                    <a:lnR w="12700" cap="flat" cmpd="sng" algn="ctr">
                      <a:solidFill>
                        <a:srgbClr val="5A5F73"/>
                      </a:solidFill>
                      <a:prstDash val="solid"/>
                      <a:round/>
                      <a:headEnd type="none" w="med" len="med"/>
                      <a:tailEnd type="none" w="med" len="med"/>
                    </a:lnR>
                    <a:lnT w="12700" cap="flat" cmpd="sng" algn="ctr">
                      <a:solidFill>
                        <a:srgbClr val="4C5268"/>
                      </a:solidFill>
                      <a:prstDash val="solid"/>
                      <a:round/>
                      <a:headEnd type="none" w="med" len="med"/>
                      <a:tailEnd type="none" w="med" len="med"/>
                    </a:lnT>
                    <a:lnB w="12700" cap="flat" cmpd="sng" algn="ctr">
                      <a:solidFill>
                        <a:srgbClr val="5A5F73"/>
                      </a:solidFill>
                      <a:prstDash val="solid"/>
                      <a:round/>
                      <a:headEnd type="none" w="med" len="med"/>
                      <a:tailEnd type="none" w="med" len="med"/>
                    </a:lnB>
                    <a:solidFill>
                      <a:srgbClr val="2D344E"/>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E8ECF4"/>
                          </a:solidFill>
                          <a:latin typeface="IBM Plex Sans" pitchFamily="34" charset="0"/>
                          <a:ea typeface="IBM Plex Sans" pitchFamily="34" charset="-122"/>
                          <a:cs typeface="IBM Plex Sans" pitchFamily="34" charset="-120"/>
                        </a:rPr>
                        <a:t>constructor</a:t>
                      </a:r>
                      <a:endParaRPr lang="en-US" sz="1200" dirty="0">
                        <a:latin typeface="IBM Plex Sans" charset="0"/>
                        <a:ea typeface="IBM Plex Sans" charset="0"/>
                        <a:cs typeface="IBM Plex Sans" charset="0"/>
                      </a:endParaRPr>
                    </a:p>
                  </a:txBody>
                  <a:tcPr marL="53340" marR="53340" marT="53340" marB="53340">
                    <a:lnL w="12700" cap="flat" cmpd="sng" algn="ctr">
                      <a:solidFill>
                        <a:srgbClr val="4C5268"/>
                      </a:solidFill>
                      <a:prstDash val="solid"/>
                      <a:round/>
                      <a:headEnd type="none" w="med" len="med"/>
                      <a:tailEnd type="none" w="med" len="med"/>
                    </a:lnL>
                    <a:lnR w="12700" cap="flat" cmpd="sng" algn="ctr">
                      <a:solidFill>
                        <a:srgbClr val="4C5268"/>
                      </a:solidFill>
                      <a:prstDash val="solid"/>
                      <a:round/>
                      <a:headEnd type="none" w="med" len="med"/>
                      <a:tailEnd type="none" w="med" len="med"/>
                    </a:lnR>
                    <a:lnT w="12700" cap="flat" cmpd="sng" algn="ctr">
                      <a:solidFill>
                        <a:srgbClr val="5A5F73"/>
                      </a:solidFill>
                      <a:prstDash val="solid"/>
                      <a:round/>
                      <a:headEnd type="none" w="med" len="med"/>
                      <a:tailEnd type="none" w="med" len="med"/>
                    </a:lnT>
                    <a:lnB w="12700" cap="flat" cmpd="sng" algn="ctr">
                      <a:solidFill>
                        <a:srgbClr val="4C5268"/>
                      </a:solidFill>
                      <a:prstDash val="solid"/>
                      <a:round/>
                      <a:headEnd type="none" w="med" len="med"/>
                      <a:tailEnd type="none" w="med" len="med"/>
                    </a:lnB>
                  </a:tcPr>
                </a:tc>
                <a:tc>
                  <a:txBody>
                    <a:bodyPr/>
                    <a:lstStyle/>
                    <a:p>
                      <a:pPr marL="0" indent="0">
                        <a:lnSpc>
                          <a:spcPts val="1680"/>
                        </a:lnSpc>
                        <a:buNone/>
                      </a:pPr>
                      <a:r>
                        <a:rPr lang="en-US" sz="1200" dirty="0">
                          <a:solidFill>
                            <a:srgbClr val="E8ECF4"/>
                          </a:solidFill>
                          <a:latin typeface="IBM Plex Sans" pitchFamily="34" charset="0"/>
                          <a:ea typeface="IBM Plex Sans" pitchFamily="34" charset="-122"/>
                          <a:cs typeface="IBM Plex Sans" pitchFamily="34" charset="-120"/>
                        </a:rPr>
                        <a:t>тело функции Animal</a:t>
                      </a:r>
                      <a:endParaRPr lang="en-US" sz="1200" dirty="0">
                        <a:latin typeface="IBM Plex Sans" charset="0"/>
                        <a:ea typeface="IBM Plex Sans" charset="0"/>
                        <a:cs typeface="IBM Plex Sans" charset="0"/>
                      </a:endParaRPr>
                    </a:p>
                  </a:txBody>
                  <a:tcPr marL="53340" marR="53340" marT="53340" marB="53340">
                    <a:lnL w="12700" cap="flat" cmpd="sng" algn="ctr">
                      <a:solidFill>
                        <a:srgbClr val="4C5268"/>
                      </a:solidFill>
                      <a:prstDash val="solid"/>
                      <a:round/>
                      <a:headEnd type="none" w="med" len="med"/>
                      <a:tailEnd type="none" w="med" len="med"/>
                    </a:lnL>
                    <a:lnR w="12700" cap="flat" cmpd="sng" algn="ctr">
                      <a:solidFill>
                        <a:srgbClr val="4C5268"/>
                      </a:solidFill>
                      <a:prstDash val="solid"/>
                      <a:round/>
                      <a:headEnd type="none" w="med" len="med"/>
                      <a:tailEnd type="none" w="med" len="med"/>
                    </a:lnR>
                    <a:lnT w="12700" cap="flat" cmpd="sng" algn="ctr">
                      <a:solidFill>
                        <a:srgbClr val="5A5F73"/>
                      </a:solidFill>
                      <a:prstDash val="solid"/>
                      <a:round/>
                      <a:headEnd type="none" w="med" len="med"/>
                      <a:tailEnd type="none" w="med" len="med"/>
                    </a:lnT>
                    <a:lnB w="12700" cap="flat" cmpd="sng" algn="ctr">
                      <a:solidFill>
                        <a:srgbClr val="4C5268"/>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E8ECF4"/>
                          </a:solidFill>
                          <a:latin typeface="IBM Plex Sans" pitchFamily="34" charset="0"/>
                          <a:ea typeface="IBM Plex Sans" pitchFamily="34" charset="-122"/>
                          <a:cs typeface="IBM Plex Sans" pitchFamily="34" charset="-120"/>
                        </a:rPr>
                        <a:t>speak()</a:t>
                      </a:r>
                      <a:endParaRPr lang="en-US" sz="1200" dirty="0">
                        <a:latin typeface="IBM Plex Sans" charset="0"/>
                        <a:ea typeface="IBM Plex Sans" charset="0"/>
                        <a:cs typeface="IBM Plex Sans" charset="0"/>
                      </a:endParaRPr>
                    </a:p>
                  </a:txBody>
                  <a:tcPr marL="53340" marR="53340" marT="53340" marB="53340">
                    <a:lnL w="12700" cap="flat" cmpd="sng" algn="ctr">
                      <a:solidFill>
                        <a:srgbClr val="4C5268"/>
                      </a:solidFill>
                      <a:prstDash val="solid"/>
                      <a:round/>
                      <a:headEnd type="none" w="med" len="med"/>
                      <a:tailEnd type="none" w="med" len="med"/>
                    </a:lnL>
                    <a:lnR w="12700" cap="flat" cmpd="sng" algn="ctr">
                      <a:solidFill>
                        <a:srgbClr val="4C5268"/>
                      </a:solidFill>
                      <a:prstDash val="solid"/>
                      <a:round/>
                      <a:headEnd type="none" w="med" len="med"/>
                      <a:tailEnd type="none" w="med" len="med"/>
                    </a:lnR>
                    <a:lnT w="12700" cap="flat" cmpd="sng" algn="ctr">
                      <a:solidFill>
                        <a:srgbClr val="4C5268"/>
                      </a:solidFill>
                      <a:prstDash val="solid"/>
                      <a:round/>
                      <a:headEnd type="none" w="med" len="med"/>
                      <a:tailEnd type="none" w="med" len="med"/>
                    </a:lnT>
                    <a:lnB w="12700" cap="flat" cmpd="sng" algn="ctr">
                      <a:solidFill>
                        <a:srgbClr val="4C5268"/>
                      </a:solidFill>
                      <a:prstDash val="solid"/>
                      <a:round/>
                      <a:headEnd type="none" w="med" len="med"/>
                      <a:tailEnd type="none" w="med" len="med"/>
                    </a:lnB>
                  </a:tcPr>
                </a:tc>
                <a:tc>
                  <a:txBody>
                    <a:bodyPr/>
                    <a:lstStyle/>
                    <a:p>
                      <a:pPr marL="0" indent="0">
                        <a:lnSpc>
                          <a:spcPts val="1680"/>
                        </a:lnSpc>
                        <a:buNone/>
                      </a:pPr>
                      <a:r>
                        <a:rPr lang="en-US" sz="1200" dirty="0">
                          <a:solidFill>
                            <a:srgbClr val="E8ECF4"/>
                          </a:solidFill>
                          <a:latin typeface="IBM Plex Sans" pitchFamily="34" charset="0"/>
                          <a:ea typeface="IBM Plex Sans" pitchFamily="34" charset="-122"/>
                          <a:cs typeface="IBM Plex Sans" pitchFamily="34" charset="-120"/>
                        </a:rPr>
                        <a:t>Animal.prototype.speak</a:t>
                      </a:r>
                      <a:endParaRPr lang="en-US" sz="1200" dirty="0">
                        <a:latin typeface="IBM Plex Sans" charset="0"/>
                        <a:ea typeface="IBM Plex Sans" charset="0"/>
                        <a:cs typeface="IBM Plex Sans" charset="0"/>
                      </a:endParaRPr>
                    </a:p>
                  </a:txBody>
                  <a:tcPr marL="53340" marR="53340" marT="53340" marB="53340">
                    <a:lnL w="12700" cap="flat" cmpd="sng" algn="ctr">
                      <a:solidFill>
                        <a:srgbClr val="4C5268"/>
                      </a:solidFill>
                      <a:prstDash val="solid"/>
                      <a:round/>
                      <a:headEnd type="none" w="med" len="med"/>
                      <a:tailEnd type="none" w="med" len="med"/>
                    </a:lnL>
                    <a:lnR w="12700" cap="flat" cmpd="sng" algn="ctr">
                      <a:solidFill>
                        <a:srgbClr val="4C5268"/>
                      </a:solidFill>
                      <a:prstDash val="solid"/>
                      <a:round/>
                      <a:headEnd type="none" w="med" len="med"/>
                      <a:tailEnd type="none" w="med" len="med"/>
                    </a:lnR>
                    <a:lnT w="12700" cap="flat" cmpd="sng" algn="ctr">
                      <a:solidFill>
                        <a:srgbClr val="4C5268"/>
                      </a:solidFill>
                      <a:prstDash val="solid"/>
                      <a:round/>
                      <a:headEnd type="none" w="med" len="med"/>
                      <a:tailEnd type="none" w="med" len="med"/>
                    </a:lnT>
                    <a:lnB w="12700" cap="flat" cmpd="sng" algn="ctr">
                      <a:solidFill>
                        <a:srgbClr val="4C5268"/>
                      </a:solidFill>
                      <a:prstDash val="solid"/>
                      <a:round/>
                      <a:headEnd type="none" w="med" len="med"/>
                      <a:tailEnd type="none" w="med" len="med"/>
                    </a:lnB>
                  </a:tcPr>
                </a:tc>
                <a:extLst>
                  <a:ext uri="{0D108BD9-81ED-4DB2-BD59-A6C34878D82A}">
                    <a16:rowId xmlns:a16="http://schemas.microsoft.com/office/drawing/2014/main" val="10002"/>
                  </a:ext>
                </a:extLst>
              </a:tr>
              <a:tr h="543560">
                <a:tc>
                  <a:txBody>
                    <a:bodyPr/>
                    <a:lstStyle/>
                    <a:p>
                      <a:pPr marL="0" indent="0">
                        <a:lnSpc>
                          <a:spcPts val="1680"/>
                        </a:lnSpc>
                        <a:buNone/>
                      </a:pPr>
                      <a:r>
                        <a:rPr lang="en-US" sz="1200" dirty="0">
                          <a:solidFill>
                            <a:srgbClr val="E8ECF4"/>
                          </a:solidFill>
                          <a:latin typeface="IBM Plex Sans" pitchFamily="34" charset="0"/>
                          <a:ea typeface="IBM Plex Sans" pitchFamily="34" charset="-122"/>
                          <a:cs typeface="IBM Plex Sans" pitchFamily="34" charset="-120"/>
                        </a:rPr>
                        <a:t>extends</a:t>
                      </a:r>
                      <a:endParaRPr lang="en-US" sz="1200" dirty="0">
                        <a:latin typeface="IBM Plex Sans" charset="0"/>
                        <a:ea typeface="IBM Plex Sans" charset="0"/>
                        <a:cs typeface="IBM Plex Sans" charset="0"/>
                      </a:endParaRPr>
                    </a:p>
                  </a:txBody>
                  <a:tcPr marL="53340" marR="53340" marT="53340" marB="53340">
                    <a:lnL w="12700" cap="flat" cmpd="sng" algn="ctr">
                      <a:solidFill>
                        <a:srgbClr val="4C5268"/>
                      </a:solidFill>
                      <a:prstDash val="solid"/>
                      <a:round/>
                      <a:headEnd type="none" w="med" len="med"/>
                      <a:tailEnd type="none" w="med" len="med"/>
                    </a:lnL>
                    <a:lnR w="12700" cap="flat" cmpd="sng" algn="ctr">
                      <a:solidFill>
                        <a:srgbClr val="4C5268"/>
                      </a:solidFill>
                      <a:prstDash val="solid"/>
                      <a:round/>
                      <a:headEnd type="none" w="med" len="med"/>
                      <a:tailEnd type="none" w="med" len="med"/>
                    </a:lnR>
                    <a:lnT w="12700" cap="flat" cmpd="sng" algn="ctr">
                      <a:solidFill>
                        <a:srgbClr val="4C5268"/>
                      </a:solidFill>
                      <a:prstDash val="solid"/>
                      <a:round/>
                      <a:headEnd type="none" w="med" len="med"/>
                      <a:tailEnd type="none" w="med" len="med"/>
                    </a:lnT>
                    <a:lnB w="12700" cap="flat" cmpd="sng" algn="ctr">
                      <a:solidFill>
                        <a:srgbClr val="4C5268"/>
                      </a:solidFill>
                      <a:prstDash val="solid"/>
                      <a:round/>
                      <a:headEnd type="none" w="med" len="med"/>
                      <a:tailEnd type="none" w="med" len="med"/>
                    </a:lnB>
                  </a:tcPr>
                </a:tc>
                <a:tc>
                  <a:txBody>
                    <a:bodyPr/>
                    <a:lstStyle/>
                    <a:p>
                      <a:pPr marL="0" indent="0">
                        <a:lnSpc>
                          <a:spcPts val="1680"/>
                        </a:lnSpc>
                        <a:buNone/>
                      </a:pPr>
                      <a:r>
                        <a:rPr lang="en-US" sz="1200" dirty="0">
                          <a:solidFill>
                            <a:srgbClr val="E8ECF4"/>
                          </a:solidFill>
                          <a:latin typeface="IBM Plex Sans" pitchFamily="34" charset="0"/>
                          <a:ea typeface="IBM Plex Sans" pitchFamily="34" charset="-122"/>
                          <a:cs typeface="IBM Plex Sans" pitchFamily="34" charset="-120"/>
                        </a:rPr>
                        <a:t>Dog.prototype → Animal.prototype, а Dog → Animal</a:t>
                      </a:r>
                      <a:endParaRPr lang="en-US" sz="1200" dirty="0">
                        <a:latin typeface="IBM Plex Sans" charset="0"/>
                        <a:ea typeface="IBM Plex Sans" charset="0"/>
                        <a:cs typeface="IBM Plex Sans" charset="0"/>
                      </a:endParaRPr>
                    </a:p>
                  </a:txBody>
                  <a:tcPr marL="53340" marR="53340" marT="53340" marB="53340">
                    <a:lnL w="12700" cap="flat" cmpd="sng" algn="ctr">
                      <a:solidFill>
                        <a:srgbClr val="4C5268"/>
                      </a:solidFill>
                      <a:prstDash val="solid"/>
                      <a:round/>
                      <a:headEnd type="none" w="med" len="med"/>
                      <a:tailEnd type="none" w="med" len="med"/>
                    </a:lnL>
                    <a:lnR w="12700" cap="flat" cmpd="sng" algn="ctr">
                      <a:solidFill>
                        <a:srgbClr val="4C5268"/>
                      </a:solidFill>
                      <a:prstDash val="solid"/>
                      <a:round/>
                      <a:headEnd type="none" w="med" len="med"/>
                      <a:tailEnd type="none" w="med" len="med"/>
                    </a:lnR>
                    <a:lnT w="12700" cap="flat" cmpd="sng" algn="ctr">
                      <a:solidFill>
                        <a:srgbClr val="4C5268"/>
                      </a:solidFill>
                      <a:prstDash val="solid"/>
                      <a:round/>
                      <a:headEnd type="none" w="med" len="med"/>
                      <a:tailEnd type="none" w="med" len="med"/>
                    </a:lnT>
                    <a:lnB w="12700" cap="flat" cmpd="sng" algn="ctr">
                      <a:solidFill>
                        <a:srgbClr val="4C5268"/>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E8ECF4"/>
                          </a:solidFill>
                          <a:latin typeface="IBM Plex Sans" pitchFamily="34" charset="0"/>
                          <a:ea typeface="IBM Plex Sans" pitchFamily="34" charset="-122"/>
                          <a:cs typeface="IBM Plex Sans" pitchFamily="34" charset="-120"/>
                        </a:rPr>
                        <a:t>super.speak()</a:t>
                      </a:r>
                      <a:endParaRPr lang="en-US" sz="1200" dirty="0">
                        <a:latin typeface="IBM Plex Sans" charset="0"/>
                        <a:ea typeface="IBM Plex Sans" charset="0"/>
                        <a:cs typeface="IBM Plex Sans" charset="0"/>
                      </a:endParaRPr>
                    </a:p>
                  </a:txBody>
                  <a:tcPr marL="53340" marR="53340" marT="53340" marB="53340">
                    <a:lnL w="12700" cap="flat" cmpd="sng" algn="ctr">
                      <a:solidFill>
                        <a:srgbClr val="4C5268"/>
                      </a:solidFill>
                      <a:prstDash val="solid"/>
                      <a:round/>
                      <a:headEnd type="none" w="med" len="med"/>
                      <a:tailEnd type="none" w="med" len="med"/>
                    </a:lnL>
                    <a:lnR w="12700" cap="flat" cmpd="sng" algn="ctr">
                      <a:solidFill>
                        <a:srgbClr val="4C5268"/>
                      </a:solidFill>
                      <a:prstDash val="solid"/>
                      <a:round/>
                      <a:headEnd type="none" w="med" len="med"/>
                      <a:tailEnd type="none" w="med" len="med"/>
                    </a:lnR>
                    <a:lnT w="12700" cap="flat" cmpd="sng" algn="ctr">
                      <a:solidFill>
                        <a:srgbClr val="4C5268"/>
                      </a:solidFill>
                      <a:prstDash val="solid"/>
                      <a:round/>
                      <a:headEnd type="none" w="med" len="med"/>
                      <a:tailEnd type="none" w="med" len="med"/>
                    </a:lnT>
                    <a:lnB w="12700" cap="flat" cmpd="sng" algn="ctr">
                      <a:solidFill>
                        <a:srgbClr val="4C5268"/>
                      </a:solidFill>
                      <a:prstDash val="solid"/>
                      <a:round/>
                      <a:headEnd type="none" w="med" len="med"/>
                      <a:tailEnd type="none" w="med" len="med"/>
                    </a:lnB>
                  </a:tcPr>
                </a:tc>
                <a:tc>
                  <a:txBody>
                    <a:bodyPr/>
                    <a:lstStyle/>
                    <a:p>
                      <a:pPr marL="0" indent="0">
                        <a:lnSpc>
                          <a:spcPts val="1680"/>
                        </a:lnSpc>
                        <a:buNone/>
                      </a:pPr>
                      <a:r>
                        <a:rPr lang="en-US" sz="1200" dirty="0">
                          <a:solidFill>
                            <a:srgbClr val="E8ECF4"/>
                          </a:solidFill>
                          <a:latin typeface="IBM Plex Sans" pitchFamily="34" charset="0"/>
                          <a:ea typeface="IBM Plex Sans" pitchFamily="34" charset="-122"/>
                          <a:cs typeface="IBM Plex Sans" pitchFamily="34" charset="-120"/>
                        </a:rPr>
                        <a:t>Animal.prototype.speak с this = rex</a:t>
                      </a:r>
                      <a:endParaRPr lang="en-US" sz="1200" dirty="0">
                        <a:latin typeface="IBM Plex Sans" charset="0"/>
                        <a:ea typeface="IBM Plex Sans" charset="0"/>
                        <a:cs typeface="IBM Plex Sans" charset="0"/>
                      </a:endParaRPr>
                    </a:p>
                  </a:txBody>
                  <a:tcPr marL="53340" marR="53340" marT="53340" marB="53340">
                    <a:lnL w="12700" cap="flat" cmpd="sng" algn="ctr">
                      <a:solidFill>
                        <a:srgbClr val="4C5268"/>
                      </a:solidFill>
                      <a:prstDash val="solid"/>
                      <a:round/>
                      <a:headEnd type="none" w="med" len="med"/>
                      <a:tailEnd type="none" w="med" len="med"/>
                    </a:lnL>
                    <a:lnR w="12700" cap="flat" cmpd="sng" algn="ctr">
                      <a:solidFill>
                        <a:srgbClr val="4C5268"/>
                      </a:solidFill>
                      <a:prstDash val="solid"/>
                      <a:round/>
                      <a:headEnd type="none" w="med" len="med"/>
                      <a:tailEnd type="none" w="med" len="med"/>
                    </a:lnR>
                    <a:lnT w="12700" cap="flat" cmpd="sng" algn="ctr">
                      <a:solidFill>
                        <a:srgbClr val="4C5268"/>
                      </a:solidFill>
                      <a:prstDash val="solid"/>
                      <a:round/>
                      <a:headEnd type="none" w="med" len="med"/>
                      <a:tailEnd type="none" w="med" len="med"/>
                    </a:lnT>
                    <a:lnB w="12700" cap="flat" cmpd="sng" algn="ctr">
                      <a:solidFill>
                        <a:srgbClr val="4C526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812800" y="5321300"/>
            <a:ext cx="10566400" cy="520700"/>
          </a:xfrm>
          <a:prstGeom prst="roundRect">
            <a:avLst>
              <a:gd name="adj" fmla="val 19512"/>
            </a:avLst>
          </a:prstGeom>
          <a:solidFill>
            <a:srgbClr val="F5B942"/>
          </a:solidFill>
          <a:ln/>
        </p:spPr>
        <p:txBody>
          <a:bodyPr wrap="square" lIns="198842" tIns="97242" rIns="0" bIns="71842" rtlCol="0" anchor="t">
            <a:normAutofit/>
          </a:bodyPr>
          <a:lstStyle/>
          <a:p>
            <a:pPr marL="0" indent="0" algn="l">
              <a:lnSpc>
                <a:spcPts val="2100"/>
              </a:lnSpc>
              <a:buNone/>
            </a:pPr>
            <a:r>
              <a:rPr lang="en-US" sz="1500" b="1" dirty="0">
                <a:solidFill>
                  <a:srgbClr val="1B1608"/>
                </a:solidFill>
                <a:latin typeface="IBM Plex Sans" pitchFamily="34" charset="0"/>
                <a:ea typeface="IBM Plex Sans" pitchFamily="34" charset="-122"/>
                <a:cs typeface="IBM Plex Sans" pitchFamily="34" charset="-120"/>
              </a:rPr>
              <a:t>class и extends: удобный синтаксис поверх той же цепочки прототипов</a:t>
            </a:r>
            <a:endParaRPr lang="en-US" sz="1500" dirty="0"/>
          </a:p>
        </p:txBody>
      </p:sp>
      <p:sp>
        <p:nvSpPr>
          <p:cNvPr id="7" name="Text 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B0"/>
                </a:solidFill>
                <a:latin typeface="IBM Plex Sans" pitchFamily="34" charset="0"/>
                <a:ea typeface="IBM Plex Sans" pitchFamily="34" charset="-122"/>
                <a:cs typeface="IBM Plex Sans" pitchFamily="34" charset="-120"/>
              </a:rPr>
              <a:t>Прототипное наследование в JavaScript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B2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5FA"/>
                </a:solidFill>
                <a:latin typeface="IBM Plex Sans" pitchFamily="34" charset="0"/>
                <a:ea typeface="IBM Plex Sans" pitchFamily="34" charset="-122"/>
                <a:cs typeface="IBM Plex Sans" pitchFamily="34" charset="-120"/>
              </a:rPr>
              <a:t>Класс — сахар над прототипами</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54481"/>
          <a:ext cx="10556241" cy="1917700"/>
        </p:xfrm>
        <a:graphic>
          <a:graphicData uri="http://schemas.openxmlformats.org/drawingml/2006/table">
            <a:tbl>
              <a:tblPr/>
              <a:tblGrid>
                <a:gridCol w="2322373">
                  <a:extLst>
                    <a:ext uri="{9D8B030D-6E8A-4147-A177-3AD203B41FA5}">
                      <a16:colId xmlns:a16="http://schemas.microsoft.com/office/drawing/2014/main" val="20000"/>
                    </a:ext>
                  </a:extLst>
                </a:gridCol>
                <a:gridCol w="4116934">
                  <a:extLst>
                    <a:ext uri="{9D8B030D-6E8A-4147-A177-3AD203B41FA5}">
                      <a16:colId xmlns:a16="http://schemas.microsoft.com/office/drawing/2014/main" val="20001"/>
                    </a:ext>
                  </a:extLst>
                </a:gridCol>
                <a:gridCol w="4116934">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9AA6BF"/>
                          </a:solidFill>
                          <a:latin typeface="IBM Plex Sans" pitchFamily="34" charset="0"/>
                          <a:ea typeface="IBM Plex Sans" pitchFamily="34" charset="-122"/>
                          <a:cs typeface="IBM Plex Sans" pitchFamily="34" charset="-120"/>
                        </a:rPr>
                        <a:t>Сравнение</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C5A"/>
                      </a:solidFill>
                      <a:prstDash val="solid"/>
                      <a:round/>
                      <a:headEnd type="none" w="med" len="med"/>
                      <a:tailEnd type="none" w="med" len="med"/>
                    </a:lnL>
                    <a:lnR w="12700" cap="flat" cmpd="sng" algn="ctr">
                      <a:solidFill>
                        <a:srgbClr val="555A66"/>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555A66"/>
                      </a:solidFill>
                      <a:prstDash val="solid"/>
                      <a:round/>
                      <a:headEnd type="none" w="med" len="med"/>
                      <a:tailEnd type="none" w="med" len="med"/>
                    </a:lnB>
                    <a:solidFill>
                      <a:srgbClr val="272D3E"/>
                    </a:solidFill>
                  </a:tcPr>
                </a:tc>
                <a:tc>
                  <a:txBody>
                    <a:bodyPr/>
                    <a:lstStyle/>
                    <a:p>
                      <a:pPr marL="0" indent="0">
                        <a:lnSpc>
                          <a:spcPts val="1960"/>
                        </a:lnSpc>
                        <a:buNone/>
                      </a:pPr>
                      <a:r>
                        <a:rPr lang="en-US" sz="1400" b="1" dirty="0">
                          <a:solidFill>
                            <a:srgbClr val="F5B942"/>
                          </a:solidFill>
                          <a:latin typeface="IBM Plex Sans" pitchFamily="34" charset="0"/>
                          <a:ea typeface="IBM Plex Sans" pitchFamily="34" charset="-122"/>
                          <a:cs typeface="IBM Plex Sans" pitchFamily="34" charset="-120"/>
                        </a:rPr>
                        <a:t>Функция-конструктор</a:t>
                      </a:r>
                      <a:endParaRPr lang="en-US" sz="1400" dirty="0">
                        <a:latin typeface="IBM Plex Sans" charset="0"/>
                        <a:ea typeface="IBM Plex Sans" charset="0"/>
                        <a:cs typeface="IBM Plex Sans" charset="0"/>
                      </a:endParaRPr>
                    </a:p>
                  </a:txBody>
                  <a:tcPr marL="62230" marR="62230" marT="62230" marB="62230">
                    <a:lnL w="12700" cap="flat" cmpd="sng" algn="ctr">
                      <a:solidFill>
                        <a:srgbClr val="555A66"/>
                      </a:solidFill>
                      <a:prstDash val="solid"/>
                      <a:round/>
                      <a:headEnd type="none" w="med" len="med"/>
                      <a:tailEnd type="none" w="med" len="med"/>
                    </a:lnL>
                    <a:lnR w="12700" cap="flat" cmpd="sng" algn="ctr">
                      <a:solidFill>
                        <a:srgbClr val="555A66"/>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555A66"/>
                      </a:solidFill>
                      <a:prstDash val="solid"/>
                      <a:round/>
                      <a:headEnd type="none" w="med" len="med"/>
                      <a:tailEnd type="none" w="med" len="med"/>
                    </a:lnB>
                    <a:solidFill>
                      <a:srgbClr val="272D3E"/>
                    </a:solidFill>
                  </a:tcPr>
                </a:tc>
                <a:tc>
                  <a:txBody>
                    <a:bodyPr/>
                    <a:lstStyle/>
                    <a:p>
                      <a:pPr marL="0" indent="0">
                        <a:lnSpc>
                          <a:spcPts val="1960"/>
                        </a:lnSpc>
                        <a:buNone/>
                      </a:pPr>
                      <a:r>
                        <a:rPr lang="en-US" sz="1400" b="1" dirty="0">
                          <a:solidFill>
                            <a:srgbClr val="F5B942"/>
                          </a:solidFill>
                          <a:latin typeface="IBM Plex Sans" pitchFamily="34" charset="0"/>
                          <a:ea typeface="IBM Plex Sans" pitchFamily="34" charset="-122"/>
                          <a:cs typeface="IBM Plex Sans" pitchFamily="34" charset="-120"/>
                        </a:rPr>
                        <a:t>class</a:t>
                      </a:r>
                      <a:endParaRPr lang="en-US" sz="1400" dirty="0">
                        <a:latin typeface="IBM Plex Sans" charset="0"/>
                        <a:ea typeface="IBM Plex Sans" charset="0"/>
                        <a:cs typeface="IBM Plex Sans" charset="0"/>
                      </a:endParaRPr>
                    </a:p>
                  </a:txBody>
                  <a:tcPr marL="62230" marR="62230" marT="62230" marB="62230">
                    <a:lnL w="12700" cap="flat" cmpd="sng" algn="ctr">
                      <a:solidFill>
                        <a:srgbClr val="555A66"/>
                      </a:solidFill>
                      <a:prstDash val="solid"/>
                      <a:round/>
                      <a:headEnd type="none" w="med" len="med"/>
                      <a:tailEnd type="none" w="med" len="med"/>
                    </a:lnL>
                    <a:lnR w="12700" cap="flat" cmpd="sng" algn="ctr">
                      <a:solidFill>
                        <a:srgbClr val="555A66"/>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555A66"/>
                      </a:solidFill>
                      <a:prstDash val="solid"/>
                      <a:round/>
                      <a:headEnd type="none" w="med" len="med"/>
                      <a:tailEnd type="none" w="med" len="med"/>
                    </a:lnB>
                    <a:solidFill>
                      <a:srgbClr val="272D3E"/>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9AA6BF"/>
                          </a:solidFill>
                          <a:latin typeface="IBM Plex Sans" pitchFamily="34" charset="0"/>
                          <a:ea typeface="IBM Plex Sans" pitchFamily="34" charset="-122"/>
                          <a:cs typeface="IBM Plex Sans" pitchFamily="34" charset="-120"/>
                        </a:rPr>
                        <a:t>Вызов без new</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555A66"/>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выполнится, но this потеряется</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555A66"/>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TypeError</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555A66"/>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9AA6BF"/>
                          </a:solidFill>
                          <a:latin typeface="IBM Plex Sans" pitchFamily="34" charset="0"/>
                          <a:ea typeface="IBM Plex Sans" pitchFamily="34" charset="-122"/>
                          <a:cs typeface="IBM Plex Sans" pitchFamily="34" charset="-120"/>
                        </a:rPr>
                        <a:t>Методы в for…in</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видны, если присвоены в prototype</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не перечисляются</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9AA6BF"/>
                          </a:solidFill>
                          <a:latin typeface="IBM Plex Sans" pitchFamily="34" charset="0"/>
                          <a:ea typeface="IBM Plex Sans" pitchFamily="34" charset="-122"/>
                          <a:cs typeface="IBM Plex Sans" pitchFamily="34" charset="-120"/>
                        </a:rPr>
                        <a:t>Строгий режим</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включается вручную</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всегда включён</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9AA6BF"/>
                          </a:solidFill>
                          <a:latin typeface="IBM Plex Sans" pitchFamily="34" charset="0"/>
                          <a:ea typeface="IBM Plex Sans" pitchFamily="34" charset="-122"/>
                          <a:cs typeface="IBM Plex Sans" pitchFamily="34" charset="-120"/>
                        </a:rPr>
                        <a:t>До объявления</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function доступна (поднимается)</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tc>
                  <a:txBody>
                    <a:bodyPr/>
                    <a:lstStyle/>
                    <a:p>
                      <a:pPr marL="0" indent="0">
                        <a:lnSpc>
                          <a:spcPts val="1960"/>
                        </a:lnSpc>
                        <a:buNone/>
                      </a:pPr>
                      <a:r>
                        <a:rPr lang="en-US" sz="1400" dirty="0">
                          <a:solidFill>
                            <a:srgbClr val="E8ECF4"/>
                          </a:solidFill>
                          <a:latin typeface="IBM Plex Sans" pitchFamily="34" charset="0"/>
                          <a:ea typeface="IBM Plex Sans" pitchFamily="34" charset="-122"/>
                          <a:cs typeface="IBM Plex Sans" pitchFamily="34" charset="-120"/>
                        </a:rPr>
                        <a:t>недоступен, как let</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C5A"/>
                      </a:solidFill>
                      <a:prstDash val="solid"/>
                      <a:round/>
                      <a:headEnd type="none" w="med" len="med"/>
                      <a:tailEnd type="none" w="med" len="med"/>
                    </a:lnL>
                    <a:lnR w="12700" cap="flat" cmpd="sng" algn="ctr">
                      <a:solidFill>
                        <a:srgbClr val="474C5A"/>
                      </a:solidFill>
                      <a:prstDash val="solid"/>
                      <a:round/>
                      <a:headEnd type="none" w="med" len="med"/>
                      <a:tailEnd type="none" w="med" len="med"/>
                    </a:lnR>
                    <a:lnT w="12700" cap="flat" cmpd="sng" algn="ctr">
                      <a:solidFill>
                        <a:srgbClr val="474C5A"/>
                      </a:solidFill>
                      <a:prstDash val="solid"/>
                      <a:round/>
                      <a:headEnd type="none" w="med" len="med"/>
                      <a:tailEnd type="none" w="med" len="med"/>
                    </a:lnT>
                    <a:lnB w="12700" cap="flat" cmpd="sng" algn="ctr">
                      <a:solidFill>
                        <a:srgbClr val="474C5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812800" y="3700779"/>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9AA6BF"/>
                </a:solidFill>
                <a:latin typeface="IBM Plex Sans" pitchFamily="34" charset="0"/>
                <a:ea typeface="IBM Plex Sans" pitchFamily="34" charset="-122"/>
                <a:cs typeface="IBM Plex Sans" pitchFamily="34" charset="-120"/>
              </a:rPr>
              <a:t>Под капотом всё то же: функция, её prototype и цепочка [[Prototype]]. Методы лежат в Class.prototype, поля — в самом экземпляре.</a:t>
            </a:r>
            <a:endParaRPr lang="en-US" sz="1600" dirty="0"/>
          </a:p>
        </p:txBody>
      </p:sp>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B0"/>
                </a:solidFill>
                <a:latin typeface="IBM Plex Sans" pitchFamily="34" charset="0"/>
                <a:ea typeface="IBM Plex Sans" pitchFamily="34" charset="-122"/>
                <a:cs typeface="IBM Plex Sans" pitchFamily="34" charset="-120"/>
              </a:rPr>
              <a:t>Прототипное наследование в JavaScript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5B94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1B1608"/>
                </a:solidFill>
                <a:latin typeface="IBM Plex Sans" pitchFamily="34" charset="0"/>
                <a:ea typeface="IBM Plex Sans" pitchFamily="34" charset="-122"/>
                <a:cs typeface="IBM Plex Sans" pitchFamily="34" charset="-120"/>
              </a:rPr>
              <a:t>Итоги</a:t>
            </a:r>
            <a:endParaRPr lang="en-US" sz="4800" dirty="0"/>
          </a:p>
        </p:txBody>
      </p:sp>
      <p:sp>
        <p:nvSpPr>
          <p:cNvPr id="3" name="Text 1"/>
          <p:cNvSpPr/>
          <p:nvPr/>
        </p:nvSpPr>
        <p:spPr>
          <a:xfrm>
            <a:off x="752713" y="2659379"/>
            <a:ext cx="10935859" cy="1645920"/>
          </a:xfrm>
          <a:prstGeom prst="rect">
            <a:avLst/>
          </a:prstGeom>
          <a:noFill/>
          <a:ln/>
        </p:spPr>
        <p:txBody>
          <a:bodyPr wrap="square" lIns="0" tIns="0" rIns="0" bIns="0" rtlCol="0" anchor="t">
            <a:normAutofit/>
          </a:bodyPr>
          <a:lstStyle/>
          <a:p>
            <a:pPr marL="314087" indent="-314087" algn="l">
              <a:lnSpc>
                <a:spcPts val="3190"/>
              </a:lnSpc>
              <a:buSzPct val="100000"/>
              <a:buFontTx/>
              <a:buAutoNum type="arabicPeriod"/>
            </a:pPr>
            <a:r>
              <a:rPr lang="en-US" sz="2200" dirty="0">
                <a:solidFill>
                  <a:srgbClr val="1B1608"/>
                </a:solidFill>
                <a:latin typeface="IBM Plex Sans" pitchFamily="34" charset="0"/>
                <a:ea typeface="IBM Plex Sans" pitchFamily="34" charset="-122"/>
                <a:cs typeface="IBM Plex Sans" pitchFamily="34" charset="-120"/>
              </a:rPr>
              <a:t>Наследование в JS — ссылка на другой объект, а не копирование</a:t>
            </a:r>
            <a:endParaRPr lang="en-US" sz="2200" dirty="0"/>
          </a:p>
          <a:p>
            <a:pPr marL="314087" indent="-314087" algn="l">
              <a:lnSpc>
                <a:spcPts val="3190"/>
              </a:lnSpc>
              <a:buSzPct val="100000"/>
              <a:buFontTx/>
              <a:buAutoNum type="arabicPeriod"/>
            </a:pPr>
            <a:r>
              <a:rPr lang="en-US" sz="2200" dirty="0">
                <a:solidFill>
                  <a:srgbClr val="1B1608"/>
                </a:solidFill>
                <a:latin typeface="IBM Plex Sans" pitchFamily="34" charset="0"/>
                <a:ea typeface="IBM Plex Sans" pitchFamily="34" charset="-122"/>
                <a:cs typeface="IBM Plex Sans" pitchFamily="34" charset="-120"/>
              </a:rPr>
              <a:t>Свойство ищется по цепочке [[Prototype]] до null</a:t>
            </a:r>
            <a:endParaRPr lang="en-US" sz="2200" dirty="0"/>
          </a:p>
          <a:p>
            <a:pPr marL="314087" indent="-314087" algn="l">
              <a:lnSpc>
                <a:spcPts val="3190"/>
              </a:lnSpc>
              <a:buSzPct val="100000"/>
              <a:buFontTx/>
              <a:buAutoNum type="arabicPeriod"/>
            </a:pPr>
            <a:r>
              <a:rPr lang="en-US" sz="2200" dirty="0">
                <a:solidFill>
                  <a:srgbClr val="1B1608"/>
                </a:solidFill>
                <a:latin typeface="IBM Plex Sans" pitchFamily="34" charset="0"/>
                <a:ea typeface="IBM Plex Sans" pitchFamily="34" charset="-122"/>
                <a:cs typeface="IBM Plex Sans" pitchFamily="34" charset="-120"/>
              </a:rPr>
              <a:t>__proto__ — ссылка объекта, prototype — заготовка функции для new</a:t>
            </a:r>
            <a:endParaRPr lang="en-US" sz="2200" dirty="0"/>
          </a:p>
          <a:p>
            <a:pPr marL="314087" indent="-314087" algn="l">
              <a:lnSpc>
                <a:spcPts val="3190"/>
              </a:lnSpc>
              <a:buSzPct val="100000"/>
              <a:buFontTx/>
              <a:buAutoNum type="arabicPeriod"/>
            </a:pPr>
            <a:r>
              <a:rPr lang="en-US" sz="2200" dirty="0">
                <a:solidFill>
                  <a:srgbClr val="1B1608"/>
                </a:solidFill>
                <a:latin typeface="IBM Plex Sans" pitchFamily="34" charset="0"/>
                <a:ea typeface="IBM Plex Sans" pitchFamily="34" charset="-122"/>
                <a:cs typeface="IBM Plex Sans" pitchFamily="34" charset="-120"/>
              </a:rPr>
              <a:t>class и extends — удобный синтаксис над той же цепочкой</a:t>
            </a:r>
            <a:endParaRPr lang="en-US" sz="2200" dirty="0"/>
          </a:p>
        </p:txBody>
      </p:sp>
      <p:sp>
        <p:nvSpPr>
          <p:cNvPr id="4" name="Text 2"/>
          <p:cNvSpPr/>
          <p:nvPr/>
        </p:nvSpPr>
        <p:spPr>
          <a:xfrm>
            <a:off x="812800" y="5486400"/>
            <a:ext cx="10883392" cy="381000"/>
          </a:xfrm>
          <a:prstGeom prst="rect">
            <a:avLst/>
          </a:prstGeom>
          <a:noFill/>
          <a:ln/>
        </p:spPr>
        <p:txBody>
          <a:bodyPr wrap="square" lIns="0" tIns="0" rIns="0" bIns="0" rtlCol="0" anchor="t">
            <a:normAutofit/>
          </a:bodyPr>
          <a:lstStyle/>
          <a:p>
            <a:pPr marL="0" indent="0" algn="l">
              <a:lnSpc>
                <a:spcPts val="2800"/>
              </a:lnSpc>
              <a:buNone/>
            </a:pPr>
            <a:endParaRPr lang="en-US" sz="2000" dirty="0"/>
          </a:p>
        </p:txBody>
      </p:sp>
      <p:sp>
        <p:nvSpPr>
          <p:cNvPr id="5" name="Text 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3A10"/>
                </a:solidFill>
                <a:latin typeface="IBM Plex Sans" pitchFamily="34" charset="0"/>
                <a:ea typeface="IBM Plex Sans" pitchFamily="34" charset="-122"/>
                <a:cs typeface="IBM Plex Sans" pitchFamily="34" charset="-120"/>
              </a:rPr>
              <a:t>Прототипное наследование в JavaScript  ·  1</a:t>
            </a:r>
            <a:r>
              <a:rPr lang="ru-RU" sz="1200" dirty="0">
                <a:solidFill>
                  <a:srgbClr val="4A3A1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theme/theme1.xml><?xml version="1.0" encoding="utf-8"?>
<a:theme xmlns:a="http://schemas.openxmlformats.org/drawingml/2006/main" name="Прототипное наследование в JavaScript">
  <a:themeElements>
    <a:clrScheme name="Прототипное наследование в JavaScript">
      <a:dk1>
        <a:srgbClr val="0F1420"/>
      </a:dk1>
      <a:lt1>
        <a:srgbClr val="F3F5FA"/>
      </a:lt1>
      <a:dk2>
        <a:srgbClr val="262B36"/>
      </a:dk2>
      <a:lt2>
        <a:srgbClr val="BABDC4"/>
      </a:lt2>
      <a:accent1>
        <a:srgbClr val="F5B942"/>
      </a:accent1>
      <a:accent2>
        <a:srgbClr val="5CC8E8"/>
      </a:accent2>
      <a:accent3>
        <a:srgbClr val="4A3A10"/>
      </a:accent3>
      <a:accent4>
        <a:srgbClr val="D7DEEE"/>
      </a:accent4>
      <a:accent5>
        <a:srgbClr val="1B2340"/>
      </a:accent5>
      <a:accent6>
        <a:srgbClr val="8A96B0"/>
      </a:accent6>
      <a:hlink>
        <a:srgbClr val="0563C1"/>
      </a:hlink>
      <a:folHlink>
        <a:srgbClr val="954F72"/>
      </a:folHlink>
    </a:clrScheme>
    <a:fontScheme name="Прототипное наследование в JavaScrip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863</TotalTime>
  <Words>3341</Words>
  <Application>Microsoft Office PowerPoint</Application>
  <PresentationFormat>Широкоэкранный</PresentationFormat>
  <Paragraphs>277</Paragraphs>
  <Slides>14</Slides>
  <Notes>14</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14</vt:i4>
      </vt:variant>
    </vt:vector>
  </HeadingPairs>
  <TitlesOfParts>
    <vt:vector size="18" baseType="lpstr">
      <vt:lpstr>IBM Plex Sans</vt:lpstr>
      <vt:lpstr>Arial</vt:lpstr>
      <vt:lpstr>JetBrains Mono</vt:lpstr>
      <vt:lpstr>Прототипное наследование в JavaScript</vt:lpstr>
      <vt:lpstr>Прототипное наследование в JavaScript</vt:lpstr>
      <vt:lpstr>Зачем нужны прототипы</vt:lpstr>
      <vt:lpstr>Что внутри объекта</vt:lpstr>
      <vt:lpstr>Связываем и смотрим в коде</vt:lpstr>
      <vt:lpstr>Как JavaScript ищет rabbit.walk()</vt:lpstr>
      <vt:lpstr>Чтение по цепочке, запись в объект</vt:lpstr>
      <vt:lpstr>Функции-конструкторы</vt:lpstr>
      <vt:lpstr>Что делает new Person('Аня')</vt:lpstr>
      <vt:lpstr>__proto__ и prototype</vt:lpstr>
      <vt:lpstr>Как было: наследование в ES5</vt:lpstr>
      <vt:lpstr>Цепочка у rex</vt:lpstr>
      <vt:lpstr>Как сейчас: class</vt:lpstr>
      <vt:lpstr>Класс — сахар над прототипами</vt:lpstr>
      <vt:lpstr>Итоги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Прототипное наследование в JavaScript</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arseniy arseniy</cp:lastModifiedBy>
  <cp:revision>2</cp:revision>
  <dcterms:created xsi:type="dcterms:W3CDTF">2026-10-24T22:27:58Z</dcterms:created>
  <dcterms:modified xsi:type="dcterms:W3CDTF">2026-10-25T12:52:07Z</dcterms:modified>
</cp:coreProperties>
</file>